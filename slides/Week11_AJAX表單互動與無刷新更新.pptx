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61D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985455" y="1005840"/>
            <a:ext cx="237744" cy="237744"/>
          </a:xfrm>
          <a:prstGeom prst="rect">
            <a:avLst/>
          </a:prstGeom>
          <a:noFill/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369503" y="1005840"/>
            <a:ext cx="237744" cy="237744"/>
          </a:xfrm>
          <a:prstGeom prst="rect">
            <a:avLst/>
          </a:prstGeom>
          <a:noFill/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753551" y="1005840"/>
            <a:ext cx="237744" cy="237744"/>
          </a:xfrm>
          <a:prstGeom prst="rect">
            <a:avLst/>
          </a:prstGeom>
          <a:noFill/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37599" y="1005840"/>
            <a:ext cx="237744" cy="237744"/>
          </a:xfrm>
          <a:prstGeom prst="rect">
            <a:avLst/>
          </a:prstGeom>
          <a:noFill/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521647" y="1005840"/>
            <a:ext cx="237744" cy="237744"/>
          </a:xfrm>
          <a:prstGeom prst="rect">
            <a:avLst/>
          </a:prstGeom>
          <a:noFill/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905695" y="1005840"/>
            <a:ext cx="237744" cy="237744"/>
          </a:xfrm>
          <a:prstGeom prst="rect">
            <a:avLst/>
          </a:prstGeom>
          <a:noFill/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985455" y="1737360"/>
            <a:ext cx="3566160" cy="18288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818120" y="2103120"/>
            <a:ext cx="3703320" cy="2880360"/>
          </a:xfrm>
          <a:prstGeom prst="roundRect">
            <a:avLst>
              <a:gd name="adj" fmla="val 4000"/>
            </a:avLst>
          </a:prstGeom>
          <a:solidFill>
            <a:srgbClr val="1A202C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764524" y="2249424"/>
            <a:ext cx="493776" cy="786384"/>
          </a:xfrm>
          <a:prstGeom prst="roundRect">
            <a:avLst>
              <a:gd name="adj" fmla="val 18000"/>
            </a:avLst>
          </a:prstGeom>
          <a:noFill/>
          <a:ln w="20320">
            <a:solidFill>
              <a:srgbClr val="61DA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919972" y="2295144"/>
            <a:ext cx="182880" cy="27432"/>
          </a:xfrm>
          <a:prstGeom prst="rect">
            <a:avLst/>
          </a:prstGeom>
          <a:solidFill>
            <a:srgbClr val="61D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846820" y="2450592"/>
            <a:ext cx="274320" cy="4572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846820" y="2578608"/>
            <a:ext cx="201168" cy="4572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846820" y="2706624"/>
            <a:ext cx="237744" cy="4572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846820" y="2834640"/>
            <a:ext cx="329184" cy="109728"/>
          </a:xfrm>
          <a:prstGeom prst="rect">
            <a:avLst/>
          </a:prstGeom>
          <a:solidFill>
            <a:srgbClr val="61D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779508" y="2304288"/>
            <a:ext cx="1097280" cy="640080"/>
          </a:xfrm>
          <a:prstGeom prst="roundRect">
            <a:avLst>
              <a:gd name="adj" fmla="val 6000"/>
            </a:avLst>
          </a:prstGeom>
          <a:noFill/>
          <a:ln w="20320">
            <a:solidFill>
              <a:srgbClr val="61DA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870948" y="2432304"/>
            <a:ext cx="621792" cy="4572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870948" y="2560320"/>
            <a:ext cx="457200" cy="4572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870948" y="2688336"/>
            <a:ext cx="548640" cy="4572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870948" y="2798064"/>
            <a:ext cx="731520" cy="54864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688068" y="2944368"/>
            <a:ext cx="1280160" cy="91440"/>
          </a:xfrm>
          <a:prstGeom prst="rect">
            <a:avLst/>
          </a:prstGeom>
          <a:solidFill>
            <a:srgbClr val="61D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08492" y="3090672"/>
            <a:ext cx="1005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手機 App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88068" y="3090672"/>
            <a:ext cx="12801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Notebook 筆電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000439" y="3255263"/>
            <a:ext cx="21945" cy="109728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0317175" y="3255263"/>
            <a:ext cx="21945" cy="109728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000439" y="3364991"/>
            <a:ext cx="1338681" cy="21945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658807" y="3364991"/>
            <a:ext cx="21945" cy="256032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761220" y="3419856"/>
            <a:ext cx="1371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AJAX / JSON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618220" y="3621024"/>
            <a:ext cx="2103120" cy="45720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 w="17780">
            <a:solidFill>
              <a:srgbClr val="A9A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PHP  API  Layer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658807" y="4169663"/>
            <a:ext cx="21945" cy="201168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761220" y="4169663"/>
            <a:ext cx="1371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PDO</a:t>
            </a:r>
          </a:p>
        </p:txBody>
      </p:sp>
      <p:sp>
        <p:nvSpPr>
          <p:cNvPr id="34" name="Magnetic Disk 33"/>
          <p:cNvSpPr/>
          <p:nvPr/>
        </p:nvSpPr>
        <p:spPr>
          <a:xfrm>
            <a:off x="8892540" y="4407408"/>
            <a:ext cx="1554479" cy="475488"/>
          </a:xfrm>
          <a:prstGeom prst="flowChartMagneticDisk">
            <a:avLst/>
          </a:prstGeom>
          <a:noFill/>
          <a:ln w="19050">
            <a:solidFill>
              <a:srgbClr val="61DA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MariaDB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1560" y="1874519"/>
            <a:ext cx="8595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WEEK 11  /  50 SLIDES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1560" y="2377440"/>
            <a:ext cx="969264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</a:p>
          <a:p>
            <a:pPr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</a:pPr>
            <a:r>
              <a:rPr sz="2400" b="1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第 11 週：AJAX 表單互動與無重新整理資料更新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051560" y="4315968"/>
            <a:ext cx="1371600" cy="45720"/>
          </a:xfrm>
          <a:prstGeom prst="rect">
            <a:avLst/>
          </a:prstGeom>
          <a:solidFill>
            <a:srgbClr val="61D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51560" y="4572000"/>
            <a:ext cx="9692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61DAFB"/>
                </a:solidFill>
                <a:latin typeface="Noto Sans TC"/>
                <a:ea typeface="Noto Sans TC"/>
                <a:cs typeface="Noto Sans TC"/>
              </a:rPr>
              <a:t>核心命題：送出資料，畫面不跳走，只回一句成功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51560" y="5175504"/>
            <a:ext cx="96926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Designed by : </a:t>
            </a:r>
            <a:r>
              <a:rPr sz="1400" b="1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Salu Chen &amp; Claude Code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" y="5623560"/>
            <a:ext cx="9692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資訊技術整合　|　全域第 501 ~ 550 頁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技術主軸：Fetch POST · preventDefault · 局部刷新 · 二次驗證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W11: AJAX 表單互動與無重新整理更新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區塊一：AJAX POST 在表單互動的核心角色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432803" cy="4114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從讀到寫：本週正式進入 AJAX 的寫入實戰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P.502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P.02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上週打通了唯讀（Read），資料能從雲端流上手機畫面。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本週進入寫入（Write）：讓使用者填的表單回寫資料庫。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【🗄️ 資料庫操作】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讀寫俱全，三層架構的雙向資料流才算真正完整。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管理員上架、顧客評價，都是本週要實作的寫入互動。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讀與寫的接力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37960" y="2359152"/>
            <a:ext cx="2410815" cy="37673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37960" y="2359152"/>
            <a:ext cx="2410815" cy="420624"/>
          </a:xfrm>
          <a:prstGeom prst="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上週：Read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02552" y="2926080"/>
            <a:ext cx="2081631" cy="3127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GET 查詢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資料流向手機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唯讀呈現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FlatList 渲染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95079" y="2359152"/>
            <a:ext cx="2410815" cy="37673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095079" y="2359152"/>
            <a:ext cx="2410815" cy="420624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本週：Write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59671" y="2926080"/>
            <a:ext cx="2081631" cy="3127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POST 送出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資料回寫雲端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表單互動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局部刷新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W11: AJAX 表單互動與無重新整理更新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區塊一：AJAX POST 在表單互動的核心角色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649205" cy="4114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AJAX 表單的靈魂：送出後畫面停在原位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P.503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P.03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使用者填完表單、按下送出，App 在背景默默發射 JSON。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畫面完全停留在原位，不跳頁、不白屏、不重載。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【📱 行動端特點】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只在原地跳出「成功」提示，並清空輸入欄。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整個過程行雲流水，這正是現代表單互動的標準。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表單互動流程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75704" y="2359152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24344" y="2359152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填寫表單並按送出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6940296" y="2976372"/>
            <a:ext cx="146304" cy="362711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775704" y="3352800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24344" y="3352800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背景 POST 送出 JSON</a:t>
            </a:r>
          </a:p>
        </p:txBody>
      </p:sp>
      <p:sp>
        <p:nvSpPr>
          <p:cNvPr id="20" name="Down Arrow 19"/>
          <p:cNvSpPr/>
          <p:nvPr/>
        </p:nvSpPr>
        <p:spPr>
          <a:xfrm>
            <a:off x="6940296" y="3970020"/>
            <a:ext cx="146304" cy="362711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775704" y="4346448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24344" y="4346448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畫面原地跳出成功提示</a:t>
            </a:r>
          </a:p>
        </p:txBody>
      </p:sp>
      <p:sp>
        <p:nvSpPr>
          <p:cNvPr id="23" name="Down Arrow 22"/>
          <p:cNvSpPr/>
          <p:nvPr/>
        </p:nvSpPr>
        <p:spPr>
          <a:xfrm>
            <a:off x="6940296" y="4963668"/>
            <a:ext cx="146304" cy="362711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775704" y="5340096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4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24344" y="5340096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清空輸入欄，等待下一筆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W11: AJAX 表單互動與無重新整理更新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區塊一：AJAX POST 在表單互動的核心角色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865607" cy="4114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與傳統 form 決裂：告別全頁白屏重新導向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P.504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P.04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傳統網頁的 form action 會讓瀏覽器整頁跳轉。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跳轉伴隨白屏、重載，前面的狀態全部歸零。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F59E0B"/>
                </a:solidFill>
                <a:latin typeface="Noto Sans TC"/>
                <a:ea typeface="Noto Sans TC"/>
                <a:cs typeface="Noto Sans TC"/>
              </a:rPr>
              <a:t>【⚡ 效能警告】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在行動端，這種體驗是完全無法接受的斷裂。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AJAX 讓表單「送出資料」與「畫面跳轉」徹底脫鉤。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兩種送出方式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37960" y="2359152"/>
            <a:ext cx="2410815" cy="37673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37960" y="2359152"/>
            <a:ext cx="2410815" cy="420624"/>
          </a:xfrm>
          <a:prstGeom prst="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傳統 form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02552" y="2926080"/>
            <a:ext cx="2081631" cy="3127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整頁跳轉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白屏重載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狀態歸零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體驗斷裂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95079" y="2359152"/>
            <a:ext cx="2410815" cy="37673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095079" y="2359152"/>
            <a:ext cx="2410815" cy="420624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AJAX 送出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59671" y="2926080"/>
            <a:ext cx="2081631" cy="3127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畫面不動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背景送資料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狀態保留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體驗連貫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W11: AJAX 表單互動與無重新整理更新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區塊一：AJAX POST 在表單互動的核心角色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1082009" cy="4114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商務情境：管理員上架、顧客評價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P.505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P.05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管理員在 PC 網頁填表，上架一件新商品。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顧客在手機端商品詳情頁，填表發表一則評價。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【🗄️ 資料庫操作】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兩種表單、兩種前端，卻共用同一組 PHP API 與資料庫。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本週就以這兩個真實情境，貫穿整個寫入實作。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75704" y="3675887"/>
            <a:ext cx="857402" cy="1371600"/>
          </a:xfrm>
          <a:prstGeom prst="roundRect">
            <a:avLst>
              <a:gd name="adj" fmla="val 9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61DAFB"/>
                </a:solidFill>
                <a:latin typeface="Noto Sans TC"/>
                <a:ea typeface="Noto Sans TC"/>
                <a:cs typeface="Noto Sans TC"/>
              </a:rPr>
              <a:t>PC 上架表單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admin.html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7687970" y="4270248"/>
            <a:ext cx="850392" cy="182880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33106" y="3959351"/>
            <a:ext cx="960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POST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593226" y="3675887"/>
            <a:ext cx="857402" cy="1371600"/>
          </a:xfrm>
          <a:prstGeom prst="roundRect">
            <a:avLst>
              <a:gd name="adj" fmla="val 9000"/>
            </a:avLst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api.php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EEEEF8"/>
                </a:solidFill>
                <a:latin typeface="Noto Sans TC"/>
                <a:ea typeface="Noto Sans TC"/>
                <a:cs typeface="Noto Sans TC"/>
              </a:rPr>
              <a:t>統一寫入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9505492" y="4270248"/>
            <a:ext cx="850392" cy="182880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50628" y="3959351"/>
            <a:ext cx="960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POST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410748" y="3675887"/>
            <a:ext cx="857402" cy="1371600"/>
          </a:xfrm>
          <a:prstGeom prst="roundRect">
            <a:avLst>
              <a:gd name="adj" fmla="val 9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61DAFB"/>
                </a:solidFill>
                <a:latin typeface="Noto Sans TC"/>
                <a:ea typeface="Noto Sans TC"/>
                <a:cs typeface="Noto Sans TC"/>
              </a:rPr>
              <a:t>手機評價表單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ChatScreen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W11: AJAX 表單互動與無重新整理更新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區塊二：Fetch POST 請求的配置矩陣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1298411" cy="4114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fetch 第二參數：配置物件決定請求長什麼樣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P.506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P.06 / 50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755648"/>
            <a:ext cx="6850181" cy="4389120"/>
          </a:xfrm>
          <a:prstGeom prst="roundRect">
            <a:avLst>
              <a:gd name="adj" fmla="val 35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1755648"/>
            <a:ext cx="6850181" cy="3657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1892807"/>
            <a:ext cx="100584" cy="100584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" y="1892807"/>
            <a:ext cx="100584" cy="100584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289304" y="1892807"/>
            <a:ext cx="100584" cy="100584"/>
          </a:xfrm>
          <a:prstGeom prst="ellipse">
            <a:avLst/>
          </a:prstGeom>
          <a:solidFill>
            <a:srgbClr val="61D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00200" y="1837943"/>
            <a:ext cx="419842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fetch 配置物件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72357" y="1819656"/>
            <a:ext cx="1417320" cy="237744"/>
          </a:xfrm>
          <a:prstGeom prst="roundRect">
            <a:avLst>
              <a:gd name="adj" fmla="val 25000"/>
            </a:avLst>
          </a:prstGeom>
          <a:noFill/>
          <a:ln w="12700">
            <a:solidFill>
              <a:srgbClr val="61DA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72357" y="1856231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[React Native]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" y="2267712"/>
            <a:ext cx="310896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2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3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4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5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6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2267712"/>
            <a:ext cx="6045509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GET 只要一個網址；POST 需要第二個「配置物件」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const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res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await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fetch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url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{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method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: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'POST'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                          </a:t>
            </a: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動作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headers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: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{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'Content-Type'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: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'application/json'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}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標頭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body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: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JSON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400" b="0" i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stringify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formData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          </a:t>
            </a: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載荷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}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三大要素：method、headers、body，缺一不可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01741" y="1755648"/>
            <a:ext cx="360415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三大要素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01741" y="2194560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901741" y="2194560"/>
            <a:ext cx="45720" cy="89154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84621" y="2304288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method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指定 HTTP 動詞。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01741" y="3214116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901741" y="3214116"/>
            <a:ext cx="45720" cy="89154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84621" y="3323844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headers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宣告內容型別。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01741" y="4233672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901741" y="4233672"/>
            <a:ext cx="45720" cy="89154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84621" y="4343400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body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要送出的資料。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901741" y="5253228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901741" y="5253228"/>
            <a:ext cx="45720" cy="89154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84621" y="5362956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預設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省略配置時 method 為 GET。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W11: AJAX 表單互動與無重新整理更新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區塊二：Fetch POST 請求的配置矩陣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1514813" cy="4114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method: 'POST'：明確告訴後端要執行 Create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P.507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P.07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method 指定這次請求的 HTTP 動詞。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POST 對應到後端的 Create——新建一筆資料。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【🗄️ 資料庫操作】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後端的 switch(method) 就靠它分派到正確的處理函數。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動詞選對，語意才正確，後端也才知道你想做什麼。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動詞對應 CRUD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6775704" y="2359152"/>
          <a:ext cx="4492446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3617"/>
                <a:gridCol w="2858829"/>
              </a:tblGrid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method</a:t>
                      </a:r>
                    </a:p>
                  </a:txBody>
                  <a:tcPr marL="91440" marR="91440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對應動作</a:t>
                      </a:r>
                    </a:p>
                  </a:txBody>
                  <a:tcPr marL="91440" marR="91440" anchor="ctr">
                    <a:solidFill>
                      <a:srgbClr val="0F172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GET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查詢 Read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POST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新建 Create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PUT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更新 Update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DELETE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刪除 Delete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W11: AJAX 表單互動與無重新整理更新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區塊二：Fetch POST 請求的配置矩陣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1731215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Content-Type 標頭魔王：不宣告後端就解不出 JSON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P.508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P.08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headers 的 Content-Type 告訴後端「我送的是 JSON」。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少了它，PHP 不會走 php://input 的 JSON 解析路徑。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F59E0B"/>
                </a:solidFill>
                <a:latin typeface="Noto Sans TC"/>
                <a:ea typeface="Noto Sans TC"/>
                <a:cs typeface="Noto Sans TC"/>
              </a:rPr>
              <a:t>【⚡ 效能警告】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結果就是後端收到空資料，卻查不出原因。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這是第 6 週那個 $_POST 為空陷阱的前端源頭。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2944368"/>
            <a:ext cx="4967935" cy="3200400"/>
          </a:xfrm>
          <a:prstGeom prst="roundRect">
            <a:avLst>
              <a:gd name="adj" fmla="val 35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2944368"/>
            <a:ext cx="4967935" cy="3657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739128" y="3081527"/>
            <a:ext cx="100584" cy="100584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940296" y="3081527"/>
            <a:ext cx="100584" cy="100584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141464" y="3081527"/>
            <a:ext cx="100584" cy="100584"/>
          </a:xfrm>
          <a:prstGeom prst="ellipse">
            <a:avLst/>
          </a:prstGeom>
          <a:solidFill>
            <a:srgbClr val="61D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52360" y="3026663"/>
            <a:ext cx="231617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必備標頭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942271" y="3008375"/>
            <a:ext cx="1417320" cy="237744"/>
          </a:xfrm>
          <a:prstGeom prst="roundRect">
            <a:avLst>
              <a:gd name="adj" fmla="val 25000"/>
            </a:avLst>
          </a:prstGeom>
          <a:noFill/>
          <a:ln w="12700">
            <a:solidFill>
              <a:srgbClr val="61DA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942271" y="3044951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[React Native]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02552" y="3456432"/>
            <a:ext cx="310896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2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3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4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78040" y="3456432"/>
            <a:ext cx="4163263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headers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: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{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25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'Content-Type'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: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25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'application/json'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}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少這行 → 後端解不出 JSON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W11: AJAX 表單互動與無重新整理更新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區塊二：Fetch POST 請求的配置矩陣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1947617" cy="4114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body 序列化：物件必須壓成 JSON 字串才能送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P.509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P.09 / 50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755648"/>
            <a:ext cx="6850181" cy="4389120"/>
          </a:xfrm>
          <a:prstGeom prst="roundRect">
            <a:avLst>
              <a:gd name="adj" fmla="val 35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1755648"/>
            <a:ext cx="6850181" cy="3657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1892807"/>
            <a:ext cx="100584" cy="100584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" y="1892807"/>
            <a:ext cx="100584" cy="100584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289304" y="1892807"/>
            <a:ext cx="100584" cy="100584"/>
          </a:xfrm>
          <a:prstGeom prst="ellipse">
            <a:avLst/>
          </a:prstGeom>
          <a:solidFill>
            <a:srgbClr val="61D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00200" y="1837943"/>
            <a:ext cx="419842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body 序列化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72357" y="1819656"/>
            <a:ext cx="1417320" cy="237744"/>
          </a:xfrm>
          <a:prstGeom prst="roundRect">
            <a:avLst>
              <a:gd name="adj" fmla="val 25000"/>
            </a:avLst>
          </a:prstGeom>
          <a:noFill/>
          <a:ln w="12700">
            <a:solidFill>
              <a:srgbClr val="61DA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72357" y="1856231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[React Native]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" y="2267712"/>
            <a:ext cx="310896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2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3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4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5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6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7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2267712"/>
            <a:ext cx="6045509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const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formData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{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name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: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'耳機'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price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: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1290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stock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: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50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}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網路只能傳字串，物件必須先序列化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body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: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JSON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400" b="0" i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stringify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formData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送出的實際內容：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{"name":"耳機","price":1290,"stock":50}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直接送物件 → 變成無意義的 [object Object]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01741" y="1755648"/>
            <a:ext cx="360415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為何序列化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01741" y="2194560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901741" y="2194560"/>
            <a:ext cx="45720" cy="89154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84621" y="2304288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網路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只能傳輸文字串流。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01741" y="3214116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901741" y="3214116"/>
            <a:ext cx="45720" cy="89154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84621" y="3323844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stringify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物件壓平成 JSON 字串。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01741" y="4233672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901741" y="4233672"/>
            <a:ext cx="45720" cy="89154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84621" y="4343400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對稱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後端以 json_decode 還原。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901741" y="5253228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901741" y="5253228"/>
            <a:ext cx="45720" cy="89154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84621" y="5362956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忘記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直接送物件會失敗。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W11: AJAX 表單互動與無重新整理更新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區塊二：Fetch POST 請求的配置矩陣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2164019" cy="4114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黑板對比：GET 極簡，POST 完整配置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P.510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P.10 / 50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755648"/>
            <a:ext cx="6850181" cy="4389120"/>
          </a:xfrm>
          <a:prstGeom prst="roundRect">
            <a:avLst>
              <a:gd name="adj" fmla="val 35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1755648"/>
            <a:ext cx="6850181" cy="3657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1892807"/>
            <a:ext cx="100584" cy="100584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" y="1892807"/>
            <a:ext cx="100584" cy="100584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289304" y="1892807"/>
            <a:ext cx="100584" cy="100584"/>
          </a:xfrm>
          <a:prstGeom prst="ellipse">
            <a:avLst/>
          </a:prstGeom>
          <a:solidFill>
            <a:srgbClr val="61D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00200" y="1837943"/>
            <a:ext cx="419842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GET vs POST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72357" y="1819656"/>
            <a:ext cx="1417320" cy="237744"/>
          </a:xfrm>
          <a:prstGeom prst="roundRect">
            <a:avLst>
              <a:gd name="adj" fmla="val 25000"/>
            </a:avLst>
          </a:prstGeom>
          <a:noFill/>
          <a:ln w="12700">
            <a:solidFill>
              <a:srgbClr val="61DA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72357" y="1856231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[React Native]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" y="2267712"/>
            <a:ext cx="310896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2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3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4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5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6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7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8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2267712"/>
            <a:ext cx="6045509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GET：只需網址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await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fetch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`${API}/products?page=1`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POST：完整配置物件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await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fetch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`${API}/products`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{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method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: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'POST'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headers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: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{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'Content-Type'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: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'application/json'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}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body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: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JSON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400" b="0" i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stringify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formData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}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01741" y="1755648"/>
            <a:ext cx="360415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牢記差異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01741" y="2194560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901741" y="2194560"/>
            <a:ext cx="45720" cy="89154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84621" y="2304288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GET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資料放網址查詢參數。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01741" y="3214116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901741" y="3214116"/>
            <a:ext cx="45720" cy="89154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84621" y="3323844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POST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資料放 body。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01741" y="4233672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901741" y="4233672"/>
            <a:ext cx="45720" cy="89154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84621" y="4343400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配置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POST 三要素齊備。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901741" y="5253228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901741" y="5253228"/>
            <a:ext cx="45720" cy="89154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84621" y="5362956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習慣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寫入一律用 POST。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W11: AJAX 表單互動與無重新整理更新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區塊三：PC 管理員上架後台剖析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2380420" cy="4114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PC 上架後台：admin.html 的表單結構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P.511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P.11 / 50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755648"/>
            <a:ext cx="6850181" cy="4389120"/>
          </a:xfrm>
          <a:prstGeom prst="roundRect">
            <a:avLst>
              <a:gd name="adj" fmla="val 35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1755648"/>
            <a:ext cx="6850181" cy="3657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1892807"/>
            <a:ext cx="100584" cy="100584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" y="1892807"/>
            <a:ext cx="100584" cy="100584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289304" y="1892807"/>
            <a:ext cx="100584" cy="100584"/>
          </a:xfrm>
          <a:prstGeom prst="ellipse">
            <a:avLst/>
          </a:prstGeom>
          <a:solidFill>
            <a:srgbClr val="A9A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00200" y="1837943"/>
            <a:ext cx="419842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admin.html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72357" y="1819656"/>
            <a:ext cx="1417320" cy="237744"/>
          </a:xfrm>
          <a:prstGeom prst="roundRect">
            <a:avLst>
              <a:gd name="adj" fmla="val 25000"/>
            </a:avLst>
          </a:prstGeom>
          <a:noFill/>
          <a:ln w="12700">
            <a:solidFill>
              <a:srgbClr val="A9A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72357" y="1856231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[HTML]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" y="2267712"/>
            <a:ext cx="310896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2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3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4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5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6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7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2267712"/>
            <a:ext cx="6045509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&lt;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!</a:t>
            </a: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-- admin.html：管理員商品上架表單 --&gt;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&lt;form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id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"productForm"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&gt;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&lt;input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id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"name"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placeholder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"商品名稱"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/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&gt;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&lt;input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id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"price"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type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"number"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placeholder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"價格"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/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&gt;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&lt;input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id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"stock"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type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"number"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placeholder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"庫存"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/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&gt;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&lt;button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type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"submit"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&gt;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上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架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商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品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&lt;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/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button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&gt;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&lt;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/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form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&gt;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&lt;div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id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"status"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&gt;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&lt;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/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div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&gt;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&lt;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!</a:t>
            </a: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-- 局部狀態回饋節點 --&gt;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01741" y="1755648"/>
            <a:ext cx="360415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結構要點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01741" y="2194560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901741" y="2194560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84621" y="2304288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form id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供 JS 抓取與重設。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01741" y="3214116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901741" y="3214116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84621" y="3323844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input id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供 JS 讀取欄位值。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01741" y="4233672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901741" y="4233672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84621" y="4343400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type=number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數字欄位鍵盤。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901741" y="5253228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901741" y="5253228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84621" y="5362956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status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空節點供回饋訊息。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W11: AJAX 表單互動與無重新整理更新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區塊三：PC 管理員上架後台剖析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2596822" cy="4114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核心必殺技：e.preventDefault() 攔下瀏覽器跳轉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P.512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P.12 / 50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755648"/>
            <a:ext cx="6850181" cy="4389120"/>
          </a:xfrm>
          <a:prstGeom prst="roundRect">
            <a:avLst>
              <a:gd name="adj" fmla="val 35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1755648"/>
            <a:ext cx="6850181" cy="3657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1892807"/>
            <a:ext cx="100584" cy="100584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" y="1892807"/>
            <a:ext cx="100584" cy="100584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289304" y="1892807"/>
            <a:ext cx="100584" cy="100584"/>
          </a:xfrm>
          <a:prstGeom prst="ellipse">
            <a:avLst/>
          </a:prstGeom>
          <a:solidFill>
            <a:srgbClr val="61D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00200" y="1837943"/>
            <a:ext cx="419842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preventDefault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72357" y="1819656"/>
            <a:ext cx="1417320" cy="237744"/>
          </a:xfrm>
          <a:prstGeom prst="roundRect">
            <a:avLst>
              <a:gd name="adj" fmla="val 25000"/>
            </a:avLst>
          </a:prstGeom>
          <a:noFill/>
          <a:ln w="12700">
            <a:solidFill>
              <a:srgbClr val="61DA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72357" y="1856231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[React Native]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" y="2267712"/>
            <a:ext cx="310896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2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3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4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5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6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2267712"/>
            <a:ext cx="6045509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const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form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document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getElementById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'productForm'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form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addEventListener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'submit'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async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&gt;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{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preventDefault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</a:t>
            </a: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★ 攔下瀏覽器預設的整頁送出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以下才輪到我們的 AJAX 接手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await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submitProduct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}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01741" y="1755648"/>
            <a:ext cx="360415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技術解密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01741" y="2194560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901741" y="2194560"/>
            <a:ext cx="45720" cy="89154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84621" y="2304288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submit 事件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表單送出時觸發。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01741" y="3214116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901741" y="3214116"/>
            <a:ext cx="45720" cy="89154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84621" y="3323844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preventDefault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取消瀏覽器預設行為。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01741" y="4233672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901741" y="4233672"/>
            <a:ext cx="45720" cy="89154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84621" y="4343400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接手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改由 AJAX 送資料。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901741" y="5253228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901741" y="5253228"/>
            <a:ext cx="45720" cy="89154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84621" y="5362956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關鍵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沒有它 AJAX 全毀。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W11: AJAX 表單互動與無重新整理更新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區塊三：PC 管理員上架後台剖析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2813224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少了 preventDefault：整頁跳轉摧毀 AJAX 架構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P.513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P.13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表單的預設行為，就是同步送出並跳轉整頁。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若不攔下，瀏覽器會在 AJAX 還沒發射前就跳走。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F59E0B"/>
                </a:solidFill>
                <a:latin typeface="Noto Sans TC"/>
                <a:ea typeface="Noto Sans TC"/>
                <a:cs typeface="Noto Sans TC"/>
              </a:rPr>
              <a:t>【⚡ 效能警告】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畫面閃爍、網址多了問號，資料卻沒進資料庫。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這是網頁 AJAX 表單第一名的災難，務必牢記。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遺漏的後果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75704" y="2359152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24344" y="2359152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按下送出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6940296" y="2976372"/>
            <a:ext cx="146304" cy="362711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775704" y="3352800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24344" y="3352800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未攔截 → 瀏覽器跳轉</a:t>
            </a:r>
          </a:p>
        </p:txBody>
      </p:sp>
      <p:sp>
        <p:nvSpPr>
          <p:cNvPr id="20" name="Down Arrow 19"/>
          <p:cNvSpPr/>
          <p:nvPr/>
        </p:nvSpPr>
        <p:spPr>
          <a:xfrm>
            <a:off x="6940296" y="3970020"/>
            <a:ext cx="146304" cy="362711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775704" y="4346448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24344" y="4346448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AJAX 來不及發射</a:t>
            </a:r>
          </a:p>
        </p:txBody>
      </p:sp>
      <p:sp>
        <p:nvSpPr>
          <p:cNvPr id="23" name="Down Arrow 22"/>
          <p:cNvSpPr/>
          <p:nvPr/>
        </p:nvSpPr>
        <p:spPr>
          <a:xfrm>
            <a:off x="6940296" y="4963668"/>
            <a:ext cx="146304" cy="362711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775704" y="5340096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4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24344" y="5340096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頁面閃爍、資料未寫入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W11: AJAX 表單互動與無重新整理更新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區塊三：PC 管理員上架後台剖析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3029626" cy="4114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抓取 DOM 欄位：組裝成 JSON 物件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P.514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P.14 / 50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755648"/>
            <a:ext cx="6850181" cy="4389120"/>
          </a:xfrm>
          <a:prstGeom prst="roundRect">
            <a:avLst>
              <a:gd name="adj" fmla="val 35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1755648"/>
            <a:ext cx="6850181" cy="3657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1892807"/>
            <a:ext cx="100584" cy="100584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" y="1892807"/>
            <a:ext cx="100584" cy="100584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289304" y="1892807"/>
            <a:ext cx="100584" cy="100584"/>
          </a:xfrm>
          <a:prstGeom prst="ellipse">
            <a:avLst/>
          </a:prstGeom>
          <a:solidFill>
            <a:srgbClr val="61D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00200" y="1837943"/>
            <a:ext cx="419842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組裝表單物件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72357" y="1819656"/>
            <a:ext cx="1417320" cy="237744"/>
          </a:xfrm>
          <a:prstGeom prst="roundRect">
            <a:avLst>
              <a:gd name="adj" fmla="val 25000"/>
            </a:avLst>
          </a:prstGeom>
          <a:noFill/>
          <a:ln w="12700">
            <a:solidFill>
              <a:srgbClr val="61DA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72357" y="1856231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[React Native]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" y="2267712"/>
            <a:ext cx="310896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2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3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4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5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6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7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2267712"/>
            <a:ext cx="6045509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function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collectForm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{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return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{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name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: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document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getElementById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'name'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value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price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: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Number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document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getElementById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'price'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value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stock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: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Number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document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getElementById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'stock'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value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}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}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數字欄位以 Number() 轉型，避免送出字串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01741" y="1755648"/>
            <a:ext cx="360415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組裝要點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01741" y="2194560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901741" y="2194560"/>
            <a:ext cx="45720" cy="89154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84621" y="2304288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.value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取得輸入框的內容。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01741" y="3214116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901741" y="3214116"/>
            <a:ext cx="45720" cy="89154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84621" y="3323844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Number()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價格庫存轉為數字。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01741" y="4233672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901741" y="4233672"/>
            <a:ext cx="45720" cy="89154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84621" y="4343400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物件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組成後端期望的結構。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901741" y="5253228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901741" y="5253228"/>
            <a:ext cx="45720" cy="89154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84621" y="5362956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鍵名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須與後端欄位對齊。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W11: AJAX 表單互動與無重新整理更新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區塊三：PC 管理員上架後台剖析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3246028" cy="4114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推送 API：Fetch POST 到 /products 端點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P.515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P.15 / 50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755648"/>
            <a:ext cx="6850181" cy="4389120"/>
          </a:xfrm>
          <a:prstGeom prst="roundRect">
            <a:avLst>
              <a:gd name="adj" fmla="val 35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1755648"/>
            <a:ext cx="6850181" cy="3657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1892807"/>
            <a:ext cx="100584" cy="100584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" y="1892807"/>
            <a:ext cx="100584" cy="100584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289304" y="1892807"/>
            <a:ext cx="100584" cy="100584"/>
          </a:xfrm>
          <a:prstGeom prst="ellipse">
            <a:avLst/>
          </a:prstGeom>
          <a:solidFill>
            <a:srgbClr val="61D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00200" y="1837943"/>
            <a:ext cx="419842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網頁端上架實現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72357" y="1819656"/>
            <a:ext cx="1417320" cy="237744"/>
          </a:xfrm>
          <a:prstGeom prst="roundRect">
            <a:avLst>
              <a:gd name="adj" fmla="val 25000"/>
            </a:avLst>
          </a:prstGeom>
          <a:noFill/>
          <a:ln w="12700">
            <a:solidFill>
              <a:srgbClr val="61DA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72357" y="1856231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[React Native]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" y="2267712"/>
            <a:ext cx="310896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2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3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4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5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6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7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8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2267712"/>
            <a:ext cx="6045509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async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function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submitProduct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{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const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res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await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fetch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`${API}/products`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{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method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: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'POST'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headers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: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{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'Content-Type'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: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'application/json'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}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body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: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JSON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400" b="0" i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stringify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collectForm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}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const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data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await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res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400" b="0" i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json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if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res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status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201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showSuccess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data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01741" y="1755648"/>
            <a:ext cx="360415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完整流程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01741" y="2194560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901741" y="2194560"/>
            <a:ext cx="45720" cy="89154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84621" y="2304288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collectForm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組裝表單資料。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01741" y="3214116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901741" y="3214116"/>
            <a:ext cx="45720" cy="89154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84621" y="3323844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POST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送到 products 端點。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01741" y="4233672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901741" y="4233672"/>
            <a:ext cx="45720" cy="89154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84621" y="4343400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201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後端回新建成功。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901741" y="5253228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901741" y="5253228"/>
            <a:ext cx="45720" cy="89154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84621" y="5362956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showSuccess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顯示成功回饋。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W11: AJAX 表單互動與無重新整理更新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區塊四：網頁端表單 UI 動態反饋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3462430" cy="4114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按下瞬間：把按鈕文字改成「寫入中…」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P.516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P.16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點擊送出的當下，立刻把按鈕文字改為「正在寫入 MariaDB…」。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讓使用者明確知道系統正在處理，而非沒有反應。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【📱 行動端特點】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任何耗時操作都該有「進行中」的視覺回饋。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沒有回饋，使用者就會焦慮地重複點擊。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2944368"/>
            <a:ext cx="4967935" cy="3200400"/>
          </a:xfrm>
          <a:prstGeom prst="roundRect">
            <a:avLst>
              <a:gd name="adj" fmla="val 35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2944368"/>
            <a:ext cx="4967935" cy="3657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739128" y="3081527"/>
            <a:ext cx="100584" cy="100584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940296" y="3081527"/>
            <a:ext cx="100584" cy="100584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141464" y="3081527"/>
            <a:ext cx="100584" cy="100584"/>
          </a:xfrm>
          <a:prstGeom prst="ellipse">
            <a:avLst/>
          </a:prstGeom>
          <a:solidFill>
            <a:srgbClr val="61D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52360" y="3026663"/>
            <a:ext cx="231617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按鈕文字回饋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942271" y="3008375"/>
            <a:ext cx="1417320" cy="237744"/>
          </a:xfrm>
          <a:prstGeom prst="roundRect">
            <a:avLst>
              <a:gd name="adj" fmla="val 25000"/>
            </a:avLst>
          </a:prstGeom>
          <a:noFill/>
          <a:ln w="12700">
            <a:solidFill>
              <a:srgbClr val="61DA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942271" y="3044951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[React Native]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02552" y="3456432"/>
            <a:ext cx="310896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2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78040" y="3456432"/>
            <a:ext cx="4163263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btn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innerText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25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'正在寫入 MariaDB...'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送出前立即更新文字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W11: AJAX 表單互動與無重新整理更新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區塊四：網頁端表單 UI 動態反饋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3678832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disabled = true：從根源杜絕連點重複寫入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P.517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P.17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把按鈕的 disabled 設為 true，讓它暫時無法再被點擊。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焦慮的使用者連點三次，也只會送出一次請求。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【🗄️ 資料庫操作】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從源頭杜絕資料庫長出重複商品的災難。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完成後再解除 disabled，讓按鈕恢復可用。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2944368"/>
            <a:ext cx="4967935" cy="3200400"/>
          </a:xfrm>
          <a:prstGeom prst="roundRect">
            <a:avLst>
              <a:gd name="adj" fmla="val 35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2944368"/>
            <a:ext cx="4967935" cy="3657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739128" y="3081527"/>
            <a:ext cx="100584" cy="100584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940296" y="3081527"/>
            <a:ext cx="100584" cy="100584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141464" y="3081527"/>
            <a:ext cx="100584" cy="100584"/>
          </a:xfrm>
          <a:prstGeom prst="ellipse">
            <a:avLst/>
          </a:prstGeom>
          <a:solidFill>
            <a:srgbClr val="61D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52360" y="3026663"/>
            <a:ext cx="231617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防連點鎖定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942271" y="3008375"/>
            <a:ext cx="1417320" cy="237744"/>
          </a:xfrm>
          <a:prstGeom prst="roundRect">
            <a:avLst>
              <a:gd name="adj" fmla="val 25000"/>
            </a:avLst>
          </a:prstGeom>
          <a:noFill/>
          <a:ln w="12700">
            <a:solidFill>
              <a:srgbClr val="61DA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942271" y="3044951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[React Native]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02552" y="3456432"/>
            <a:ext cx="310896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2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78040" y="3456432"/>
            <a:ext cx="4163263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btn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disabled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true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</a:t>
            </a:r>
            <a:r>
              <a:rPr sz="125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送出前鎖定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...await fetch...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btn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disabled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false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25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完成後解鎖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W11: AJAX 表單互動與無重新整理更新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區塊四：網頁端表單 UI 動態反饋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3895234" cy="4114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局部回饋：預留一個空的 status 節點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P.518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P.18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在表單下方預留一個空的 &lt;div id="status"&gt;&lt;/div&gt;。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平時它是空的，送出後才被填入結果訊息。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【📱 行動端特點】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回饋就在原地出現，不必跳出彈窗打斷操作。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這就是「局部更新」在網頁端最單純的實踐。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2944368"/>
            <a:ext cx="4967935" cy="3200400"/>
          </a:xfrm>
          <a:prstGeom prst="roundRect">
            <a:avLst>
              <a:gd name="adj" fmla="val 35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2944368"/>
            <a:ext cx="4967935" cy="3657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739128" y="3081527"/>
            <a:ext cx="100584" cy="100584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940296" y="3081527"/>
            <a:ext cx="100584" cy="100584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141464" y="3081527"/>
            <a:ext cx="100584" cy="100584"/>
          </a:xfrm>
          <a:prstGeom prst="ellipse">
            <a:avLst/>
          </a:prstGeom>
          <a:solidFill>
            <a:srgbClr val="A9A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52360" y="3026663"/>
            <a:ext cx="231617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狀態節點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942271" y="3008375"/>
            <a:ext cx="1417320" cy="237744"/>
          </a:xfrm>
          <a:prstGeom prst="roundRect">
            <a:avLst>
              <a:gd name="adj" fmla="val 25000"/>
            </a:avLst>
          </a:prstGeom>
          <a:noFill/>
          <a:ln w="12700">
            <a:solidFill>
              <a:srgbClr val="A9A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942271" y="3044951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[HTML]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02552" y="3456432"/>
            <a:ext cx="310896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2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78040" y="3456432"/>
            <a:ext cx="4163263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&lt;div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id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25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"status"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&gt;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&lt;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/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div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&gt;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&lt;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!</a:t>
            </a:r>
            <a:r>
              <a:rPr sz="125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-- 平時空白 --&gt;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&lt;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!</a:t>
            </a:r>
            <a:r>
              <a:rPr sz="125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-- 送出後填入結果 --&gt;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W11: AJAX 表單互動與無重新整理更新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區塊四：網頁端表單 UI 動態反饋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4111636" cy="4114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成功回饋：innerText 塞入綠色的上架成功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P.519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P.19 / 50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755648"/>
            <a:ext cx="6850181" cy="4389120"/>
          </a:xfrm>
          <a:prstGeom prst="roundRect">
            <a:avLst>
              <a:gd name="adj" fmla="val 35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1755648"/>
            <a:ext cx="6850181" cy="3657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1892807"/>
            <a:ext cx="100584" cy="100584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" y="1892807"/>
            <a:ext cx="100584" cy="100584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289304" y="1892807"/>
            <a:ext cx="100584" cy="100584"/>
          </a:xfrm>
          <a:prstGeom prst="ellipse">
            <a:avLst/>
          </a:prstGeom>
          <a:solidFill>
            <a:srgbClr val="61D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00200" y="1837943"/>
            <a:ext cx="419842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成功回饋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72357" y="1819656"/>
            <a:ext cx="1417320" cy="237744"/>
          </a:xfrm>
          <a:prstGeom prst="roundRect">
            <a:avLst>
              <a:gd name="adj" fmla="val 25000"/>
            </a:avLst>
          </a:prstGeom>
          <a:noFill/>
          <a:ln w="12700">
            <a:solidFill>
              <a:srgbClr val="61DA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72357" y="1856231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[React Native]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" y="2267712"/>
            <a:ext cx="310896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2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3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4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5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2267712"/>
            <a:ext cx="6045509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function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showSuccess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data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{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const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status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document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getElementById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'status'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status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style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color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'green'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status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innerText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'🎉 商品上架成功！ID = 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+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data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400" b="0" i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data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id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}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局部更新該節點，畫面其餘部分完全不動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01741" y="1755648"/>
            <a:ext cx="360415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回饋設計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01741" y="2194560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901741" y="2194560"/>
            <a:ext cx="45720" cy="89154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84621" y="2304288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innerText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填入文字訊息。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01741" y="3214116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901741" y="3214116"/>
            <a:ext cx="45720" cy="89154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84621" y="3323844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綠色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以顏色強化成功語意。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01741" y="4233672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901741" y="4233672"/>
            <a:ext cx="45720" cy="89154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84621" y="4343400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附 ID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回報新商品編號。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901741" y="5253228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901741" y="5253228"/>
            <a:ext cx="45720" cy="89154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84621" y="5362956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局部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只動 status 節點。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W11: AJAX 表單互動與無重新整理更新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區塊四：網頁端表單 UI 動態反饋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4328038" cy="4114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一鍵清空：form.reset() 重設所有輸入框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P.520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P.20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上架成功後，表單應清空以便輸入下一筆。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呼叫 form.reset() 即可一次清空所有輸入框。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【📱 行動端特點】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不必逐一手動清除，一行搞定。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清空 + 成功提示，構成一次完整的表單互動循環。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2944368"/>
            <a:ext cx="4967935" cy="3200400"/>
          </a:xfrm>
          <a:prstGeom prst="roundRect">
            <a:avLst>
              <a:gd name="adj" fmla="val 35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2944368"/>
            <a:ext cx="4967935" cy="3657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739128" y="3081527"/>
            <a:ext cx="100584" cy="100584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940296" y="3081527"/>
            <a:ext cx="100584" cy="100584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141464" y="3081527"/>
            <a:ext cx="100584" cy="100584"/>
          </a:xfrm>
          <a:prstGeom prst="ellipse">
            <a:avLst/>
          </a:prstGeom>
          <a:solidFill>
            <a:srgbClr val="61D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52360" y="3026663"/>
            <a:ext cx="231617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表單重設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942271" y="3008375"/>
            <a:ext cx="1417320" cy="237744"/>
          </a:xfrm>
          <a:prstGeom prst="roundRect">
            <a:avLst>
              <a:gd name="adj" fmla="val 25000"/>
            </a:avLst>
          </a:prstGeom>
          <a:noFill/>
          <a:ln w="12700">
            <a:solidFill>
              <a:srgbClr val="61DA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942271" y="3044951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[React Native]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02552" y="3456432"/>
            <a:ext cx="310896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2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3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78040" y="3456432"/>
            <a:ext cx="4163263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document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getElementById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25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'productForm'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reset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一鍵清空所有欄位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W11: AJAX 表單互動與無重新整理更新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區塊五：手機端評價表單與 State 連動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4544439" cy="4114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戰場拉回手機：商品詳情頁的評價模組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P.521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P.21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在 ProductDetailScreen 規劃 Reviews 評價表單。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使用者可打分數、寫評論，送出後即時顯示在下方。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【📱 行動端特點】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這是手機端「送出即見」的局部刷新經典場景。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與網頁上架同理，只是換成 React Native 的寫法。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評價模組組成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75704" y="2359152"/>
            <a:ext cx="4492447" cy="1091183"/>
          </a:xfrm>
          <a:prstGeom prst="roundRect">
            <a:avLst>
              <a:gd name="adj" fmla="val 10000"/>
            </a:avLst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評分輸入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五星選擇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775704" y="3614928"/>
            <a:ext cx="4492447" cy="1091183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評論輸入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TextInput 多行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775704" y="4870704"/>
            <a:ext cx="4492447" cy="1091183"/>
          </a:xfrm>
          <a:prstGeom prst="roundRect">
            <a:avLst>
              <a:gd name="adj" fmla="val 10000"/>
            </a:avLst>
          </a:prstGeom>
          <a:solidFill>
            <a:srgbClr val="1A2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送出後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局部刷新列表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W11: AJAX 表單互動與無重新整理更新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區塊五：手機端評價表單與 State 連動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4760841" cy="4114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建立狀態：評論文字與五星評分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P.522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P.22 / 50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755648"/>
            <a:ext cx="6850181" cy="4389120"/>
          </a:xfrm>
          <a:prstGeom prst="roundRect">
            <a:avLst>
              <a:gd name="adj" fmla="val 35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1755648"/>
            <a:ext cx="6850181" cy="3657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1892807"/>
            <a:ext cx="100584" cy="100584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" y="1892807"/>
            <a:ext cx="100584" cy="100584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289304" y="1892807"/>
            <a:ext cx="100584" cy="100584"/>
          </a:xfrm>
          <a:prstGeom prst="ellipse">
            <a:avLst/>
          </a:prstGeom>
          <a:solidFill>
            <a:srgbClr val="61D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00200" y="1837943"/>
            <a:ext cx="419842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評價表單狀態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72357" y="1819656"/>
            <a:ext cx="1417320" cy="237744"/>
          </a:xfrm>
          <a:prstGeom prst="roundRect">
            <a:avLst>
              <a:gd name="adj" fmla="val 25000"/>
            </a:avLst>
          </a:prstGeom>
          <a:noFill/>
          <a:ln w="12700">
            <a:solidFill>
              <a:srgbClr val="61DA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72357" y="1856231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[React Native]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" y="2267712"/>
            <a:ext cx="310896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2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3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4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5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6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2267712"/>
            <a:ext cx="6045509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const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comment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setComment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]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useState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const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rating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setRating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]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useState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5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const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reviews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setReviews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]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useState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]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&lt;TextInput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value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{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comment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}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onChangeText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{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setComment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}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placeholder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"寫下你的評價"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multiline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/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&gt;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&lt;StarPicker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value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{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rating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}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onChange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{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setRating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}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/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&gt;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01741" y="1755648"/>
            <a:ext cx="360415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狀態設計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01741" y="2194560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901741" y="2194560"/>
            <a:ext cx="45720" cy="89154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84621" y="2304288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comment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受控的評論文字。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01741" y="3214116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901741" y="3214116"/>
            <a:ext cx="45720" cy="89154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84621" y="3323844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rating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五星分數，預設 5。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01741" y="4233672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901741" y="4233672"/>
            <a:ext cx="45720" cy="89154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84621" y="4343400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reviews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既有評論列表。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901741" y="5253228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901741" y="5253228"/>
            <a:ext cx="45720" cy="89154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84621" y="5362956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multiline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評論允許多行。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W11: AJAX 表單互動與無重新整理更新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區塊五：手機端評價表單與 State 連動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4977243" cy="4114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postReview：打包 product_id、user_id 與評論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P.523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P.23 / 50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755648"/>
            <a:ext cx="6850181" cy="4389120"/>
          </a:xfrm>
          <a:prstGeom prst="roundRect">
            <a:avLst>
              <a:gd name="adj" fmla="val 35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1755648"/>
            <a:ext cx="6850181" cy="3657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1892807"/>
            <a:ext cx="100584" cy="100584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" y="1892807"/>
            <a:ext cx="100584" cy="100584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289304" y="1892807"/>
            <a:ext cx="100584" cy="100584"/>
          </a:xfrm>
          <a:prstGeom prst="ellipse">
            <a:avLst/>
          </a:prstGeom>
          <a:solidFill>
            <a:srgbClr val="61D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00200" y="1837943"/>
            <a:ext cx="419842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postReview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72357" y="1819656"/>
            <a:ext cx="1417320" cy="237744"/>
          </a:xfrm>
          <a:prstGeom prst="roundRect">
            <a:avLst>
              <a:gd name="adj" fmla="val 25000"/>
            </a:avLst>
          </a:prstGeom>
          <a:noFill/>
          <a:ln w="12700">
            <a:solidFill>
              <a:srgbClr val="61DA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72357" y="1856231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[React Native]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" y="2267712"/>
            <a:ext cx="310896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2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3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4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5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6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7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8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9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10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11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2267712"/>
            <a:ext cx="6045509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async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function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postReview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{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25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const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res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await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fetch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25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`${API}/reviews`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{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method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: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'POST'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headers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: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{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'Content-Type'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: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'application/json'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}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body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: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JSON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250" b="0" i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stringify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{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 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product_id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: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productId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 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user_id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: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currentUser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id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 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rating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comment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}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}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25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if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res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ok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{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setComment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25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''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fetchReviews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}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01741" y="1755648"/>
            <a:ext cx="360415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打包內容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01741" y="2194560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901741" y="2194560"/>
            <a:ext cx="45720" cy="89154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84621" y="2304288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product_id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評價的目標商品。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01741" y="3214116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901741" y="3214116"/>
            <a:ext cx="45720" cy="89154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84621" y="3323844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user_id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評價者身分。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01741" y="4233672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901741" y="4233672"/>
            <a:ext cx="45720" cy="89154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84621" y="4343400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rating/comment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分數與內容。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901741" y="5253228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901741" y="5253228"/>
            <a:ext cx="45720" cy="89154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84621" y="5362956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成功後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清空並重抓列表。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W11: AJAX 表單互動與無重新整理更新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區塊五：手機端評價表單與 State 連動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5193645" cy="4114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發射 POST：送到 /reviews 資源端點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P.524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P.24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評價資料以 POST 送往 api.php 的 reviews 端點。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後端驗證後，以預備陳述式寫入 Reviews 資料表。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【🗄️ 資料庫操作】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同一支 api.php，多了一個資源分支就多一種寫入。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前端只管送，寫入的安全把關由後端負責。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75704" y="3675887"/>
            <a:ext cx="857402" cy="1371600"/>
          </a:xfrm>
          <a:prstGeom prst="roundRect">
            <a:avLst>
              <a:gd name="adj" fmla="val 9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61DAFB"/>
                </a:solidFill>
                <a:latin typeface="Noto Sans TC"/>
                <a:ea typeface="Noto Sans TC"/>
                <a:cs typeface="Noto Sans TC"/>
              </a:rPr>
              <a:t>手機評價表單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POST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7687970" y="4270248"/>
            <a:ext cx="850392" cy="182880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33106" y="3959351"/>
            <a:ext cx="960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JSON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593226" y="3675887"/>
            <a:ext cx="857402" cy="1371600"/>
          </a:xfrm>
          <a:prstGeom prst="roundRect">
            <a:avLst>
              <a:gd name="adj" fmla="val 9000"/>
            </a:avLst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api.php/reviews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EEEEF8"/>
                </a:solidFill>
                <a:latin typeface="Noto Sans TC"/>
                <a:ea typeface="Noto Sans TC"/>
                <a:cs typeface="Noto Sans TC"/>
              </a:rPr>
              <a:t>驗證寫入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9505492" y="4270248"/>
            <a:ext cx="850392" cy="182880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50628" y="3959351"/>
            <a:ext cx="960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INSERT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410748" y="3675887"/>
            <a:ext cx="857402" cy="1371600"/>
          </a:xfrm>
          <a:prstGeom prst="roundRect">
            <a:avLst>
              <a:gd name="adj" fmla="val 9000"/>
            </a:avLst>
          </a:prstGeom>
          <a:solidFill>
            <a:srgbClr val="1A2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61DAFB"/>
                </a:solidFill>
                <a:latin typeface="Noto Sans TC"/>
                <a:ea typeface="Noto Sans TC"/>
                <a:cs typeface="Noto Sans TC"/>
              </a:rPr>
              <a:t>Reviews 表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落盤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W11: AJAX 表單互動與無重新整理更新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區塊五：手機端評價表單與 State 連動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5410047" cy="4114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體驗核心：送出後背景再抓一次，評論 0.1 秒疊上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P.525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P.25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送出成功後，不切換頁面、不重載。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而是在背景再觸發一次 fetchReviews()。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【📱 行動端特點】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新評論在 0.1 秒內動態疊加到下方列表最前。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使用者感受到的是「我寫的評論立刻出現了」。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局部刷新體驗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75704" y="2359152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24344" y="2359152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postReview 送出成功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6940296" y="2976372"/>
            <a:ext cx="146304" cy="362711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775704" y="3352800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24344" y="3352800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清空輸入框</a:t>
            </a:r>
          </a:p>
        </p:txBody>
      </p:sp>
      <p:sp>
        <p:nvSpPr>
          <p:cNvPr id="20" name="Down Arrow 19"/>
          <p:cNvSpPr/>
          <p:nvPr/>
        </p:nvSpPr>
        <p:spPr>
          <a:xfrm>
            <a:off x="6940296" y="3970020"/>
            <a:ext cx="146304" cy="362711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775704" y="4346448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24344" y="4346448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背景 fetchReviews()</a:t>
            </a:r>
          </a:p>
        </p:txBody>
      </p:sp>
      <p:sp>
        <p:nvSpPr>
          <p:cNvPr id="23" name="Down Arrow 22"/>
          <p:cNvSpPr/>
          <p:nvPr/>
        </p:nvSpPr>
        <p:spPr>
          <a:xfrm>
            <a:off x="6940296" y="4963668"/>
            <a:ext cx="146304" cy="362711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775704" y="5340096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4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24344" y="5340096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新評論即時疊上列表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W11: AJAX 表單互動與無重新整理更新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區塊六：後端 PHP 二次防禦性驗證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5626449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警示：前端驗過了，後端還要再驗一次嗎？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P.526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P.26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答案是絕對需要，而且沒有任何例外。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前端驗證是為了體驗，後端驗證才是為了安全。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【🗄️ 資料庫操作】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前端可被繞過，資料庫的守門人只能是後端。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這個原則從第 2 週講到現在，因為它真的至關重要。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兩層驗證的分工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37960" y="2359152"/>
            <a:ext cx="2410815" cy="37673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37960" y="2359152"/>
            <a:ext cx="2410815" cy="420624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前端驗證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02552" y="2926080"/>
            <a:ext cx="2081631" cy="3127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即時回饋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為了體驗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可被繞過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非安全防線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95079" y="2359152"/>
            <a:ext cx="2410815" cy="37673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095079" y="2359152"/>
            <a:ext cx="2410815" cy="420624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後端驗證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59671" y="2926080"/>
            <a:ext cx="2081631" cy="3127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最終把關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為了安全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無法繞過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真正防線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W11: AJAX 表單互動與無重新整理更新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區塊六：後端 PHP 二次防禦性驗證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5842851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繞過演示：黑客用 Postman 直射殘缺 JSON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P.527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P.27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攻擊者根本不會打開你的 App，而是直接呼叫 API。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用 Postman 就能送出空白或惡意的 JSON 封包。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F59E0B"/>
                </a:solidFill>
                <a:latin typeface="Noto Sans TC"/>
                <a:ea typeface="Noto Sans TC"/>
                <a:cs typeface="Noto Sans TC"/>
              </a:rPr>
              <a:t>【⚡ 效能警告】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你的前端驗證，此時一行都沒有執行過。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所以後端必須假設「送來的資料一定有問題」。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75704" y="3675887"/>
            <a:ext cx="1766163" cy="1371600"/>
          </a:xfrm>
          <a:prstGeom prst="roundRect">
            <a:avLst>
              <a:gd name="adj" fmla="val 9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61DAFB"/>
                </a:solidFill>
                <a:latin typeface="Noto Sans TC"/>
                <a:ea typeface="Noto Sans TC"/>
                <a:cs typeface="Noto Sans TC"/>
              </a:rPr>
              <a:t>Postman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繞過前端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8596731" y="4270248"/>
            <a:ext cx="850392" cy="182880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41867" y="3959351"/>
            <a:ext cx="960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繞過驗證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501987" y="3675887"/>
            <a:ext cx="1766163" cy="1371600"/>
          </a:xfrm>
          <a:prstGeom prst="roundRect">
            <a:avLst>
              <a:gd name="adj" fmla="val 9000"/>
            </a:avLst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殘缺 JSON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EEEEF8"/>
                </a:solidFill>
                <a:latin typeface="Noto Sans TC"/>
                <a:ea typeface="Noto Sans TC"/>
                <a:cs typeface="Noto Sans TC"/>
              </a:rPr>
              <a:t>直射 API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W11: AJAX 表單互動與無重新整理更新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區塊六：後端 PHP 二次防禦性驗證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6059253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後端防禦：case 'reviews' 內嚴查非空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P.528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P.28 / 50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755648"/>
            <a:ext cx="6850181" cy="4389120"/>
          </a:xfrm>
          <a:prstGeom prst="roundRect">
            <a:avLst>
              <a:gd name="adj" fmla="val 35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1755648"/>
            <a:ext cx="6850181" cy="3657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1892807"/>
            <a:ext cx="100584" cy="100584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" y="1892807"/>
            <a:ext cx="100584" cy="100584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289304" y="1892807"/>
            <a:ext cx="100584" cy="100584"/>
          </a:xfrm>
          <a:prstGeom prst="ellipse">
            <a:avLst/>
          </a:prstGeom>
          <a:solidFill>
            <a:srgbClr val="A9A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00200" y="1837943"/>
            <a:ext cx="419842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reviews 防禦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72357" y="1819656"/>
            <a:ext cx="1417320" cy="237744"/>
          </a:xfrm>
          <a:prstGeom prst="roundRect">
            <a:avLst>
              <a:gd name="adj" fmla="val 25000"/>
            </a:avLst>
          </a:prstGeom>
          <a:noFill/>
          <a:ln w="12700">
            <a:solidFill>
              <a:srgbClr val="A9A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72357" y="1856231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[PHP Backend]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" y="2267712"/>
            <a:ext cx="310896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2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3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4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5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6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7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2267712"/>
            <a:ext cx="6045509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&lt;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?php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api.php  →  case 'reviews':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if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empty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$input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'comment'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]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|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|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empty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$input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'product_id'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]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{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http_response_code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400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sendJsonResponse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'error'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'評論內容不可留空'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}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通過檢查後才進入寫入邏輯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01741" y="1755648"/>
            <a:ext cx="360415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防禦要點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01741" y="2194560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901741" y="2194560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84621" y="2304288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empty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同時擋空與未定義。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01741" y="3214116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901741" y="3214116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84621" y="3323844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必填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評論與商品缺一不可。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01741" y="4233672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901741" y="4233672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84621" y="4343400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400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殘缺請求回 Bad Request。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901741" y="5253228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901741" y="5253228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84621" y="5362956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early exit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不通過就不寫入。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W11: AJAX 表單互動與無重新整理更新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區塊六：後端 PHP 二次防禦性驗證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6275655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無情拒絕：惡意空白回 400 Bad Request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P.529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P.29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偵測到惡意空白注入，後端立刻回 400。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並附上「評論內容不可留空」的明確 JSON。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【🗄️ 資料庫操作】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資料庫因此永遠不會出現一則空白評論。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嚴詞拒絕，是後端守住資料品質的姿態。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2578608"/>
            <a:ext cx="4967935" cy="3566160"/>
          </a:xfrm>
          <a:prstGeom prst="roundRect">
            <a:avLst>
              <a:gd name="adj" fmla="val 35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2578608"/>
            <a:ext cx="4967935" cy="3657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739128" y="2715768"/>
            <a:ext cx="100584" cy="100584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940296" y="2715768"/>
            <a:ext cx="100584" cy="100584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141464" y="2715768"/>
            <a:ext cx="100584" cy="100584"/>
          </a:xfrm>
          <a:prstGeom prst="ellipse">
            <a:avLst/>
          </a:prstGeom>
          <a:solidFill>
            <a:srgbClr val="61D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52360" y="2660903"/>
            <a:ext cx="231617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拒絕回應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942271" y="2642615"/>
            <a:ext cx="1417320" cy="237744"/>
          </a:xfrm>
          <a:prstGeom prst="roundRect">
            <a:avLst>
              <a:gd name="adj" fmla="val 25000"/>
            </a:avLst>
          </a:prstGeom>
          <a:noFill/>
          <a:ln w="12700">
            <a:solidFill>
              <a:srgbClr val="61DA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942271" y="2679191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[JSON]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02552" y="3090672"/>
            <a:ext cx="310896" cy="2926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2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3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4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78040" y="3090672"/>
            <a:ext cx="4163263" cy="2926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{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25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"status"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: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"error"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25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"message"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: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"評論內容不可留空"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}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HTTP 400 Bad Request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W11: AJAX 表單互動與無重新整理更新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區塊六：後端 PHP 二次防禦性驗證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6492057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安全寫入：以預備陳述式存入 Reviews 表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P.530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P.30 / 50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755648"/>
            <a:ext cx="6850181" cy="4389120"/>
          </a:xfrm>
          <a:prstGeom prst="roundRect">
            <a:avLst>
              <a:gd name="adj" fmla="val 35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1755648"/>
            <a:ext cx="6850181" cy="3657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1892807"/>
            <a:ext cx="100584" cy="100584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" y="1892807"/>
            <a:ext cx="100584" cy="100584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289304" y="1892807"/>
            <a:ext cx="100584" cy="100584"/>
          </a:xfrm>
          <a:prstGeom prst="ellipse">
            <a:avLst/>
          </a:prstGeom>
          <a:solidFill>
            <a:srgbClr val="A9A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00200" y="1837943"/>
            <a:ext cx="419842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安全寫入評價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72357" y="1819656"/>
            <a:ext cx="1417320" cy="237744"/>
          </a:xfrm>
          <a:prstGeom prst="roundRect">
            <a:avLst>
              <a:gd name="adj" fmla="val 25000"/>
            </a:avLst>
          </a:prstGeom>
          <a:noFill/>
          <a:ln w="12700">
            <a:solidFill>
              <a:srgbClr val="A9A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72357" y="1856231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[PHP Backend]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" y="2267712"/>
            <a:ext cx="310896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2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3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4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5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6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7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8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9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2267712"/>
            <a:ext cx="6045509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&lt;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?php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$stmt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$pdo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-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&gt;</a:t>
            </a:r>
            <a:r>
              <a:rPr sz="1250" b="0" i="0">
                <a:solidFill>
                  <a:srgbClr val="C5C8F0"/>
                </a:solidFill>
                <a:latin typeface="Consolas"/>
                <a:ea typeface="Consolas"/>
                <a:cs typeface="Consolas"/>
              </a:rPr>
              <a:t>prepare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25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"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INSERT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INTO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reviews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product_id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user_id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rating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comment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VALUES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?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?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?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?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25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"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$stmt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-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&gt;</a:t>
            </a:r>
            <a:r>
              <a:rPr sz="1250" b="0" i="0">
                <a:solidFill>
                  <a:srgbClr val="C5C8F0"/>
                </a:solidFill>
                <a:latin typeface="Consolas"/>
                <a:ea typeface="Consolas"/>
                <a:cs typeface="Consolas"/>
              </a:rPr>
              <a:t>execute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[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$input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125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'product_id'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]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$input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125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'user_id'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]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$input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125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'rating'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]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$input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125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'comment'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]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]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http_response_code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25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201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01741" y="1755648"/>
            <a:ext cx="360415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寫入要點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01741" y="2194560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901741" y="2194560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84621" y="2304288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? 占位符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四欄位全防注入。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01741" y="3214116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901741" y="3214116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84621" y="3323844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通過驗證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已確認非空才寫。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01741" y="4233672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901741" y="4233672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84621" y="4343400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201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回新建成功。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901741" y="5253228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901741" y="5253228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84621" y="5362956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一致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與商品寫入同一套安全法。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W11: AJAX 表單互動與無重新整理更新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區塊七：網絡超時與異常中斷防護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6708459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無盡等待：後端卡頓讓 Fetch 陷入死結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P.531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P.31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若伺服器網路卡頓，Fetch 會一直等下去，沒有上限。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使用者盯著轉圈的畫面，卻永遠等不到結果。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F59E0B"/>
                </a:solidFill>
                <a:latin typeface="Noto Sans TC"/>
                <a:ea typeface="Noto Sans TC"/>
                <a:cs typeface="Noto Sans TC"/>
              </a:rPr>
              <a:t>【⚡ 效能警告】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按鈕還被鎖著，整個介面形同死結。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必須為 Fetch 裝上一顆「超時炸彈」，逾時就中止。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無超時的困境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75704" y="2359152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24344" y="2359152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送出請求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6940296" y="2976372"/>
            <a:ext cx="146304" cy="362711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775704" y="3352800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24344" y="3352800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後端遲遲不回</a:t>
            </a:r>
          </a:p>
        </p:txBody>
      </p:sp>
      <p:sp>
        <p:nvSpPr>
          <p:cNvPr id="20" name="Down Arrow 19"/>
          <p:cNvSpPr/>
          <p:nvPr/>
        </p:nvSpPr>
        <p:spPr>
          <a:xfrm>
            <a:off x="6940296" y="3970020"/>
            <a:ext cx="146304" cy="362711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775704" y="4346448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24344" y="4346448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Fetch 無限等待</a:t>
            </a:r>
          </a:p>
        </p:txBody>
      </p:sp>
      <p:sp>
        <p:nvSpPr>
          <p:cNvPr id="23" name="Down Arrow 22"/>
          <p:cNvSpPr/>
          <p:nvPr/>
        </p:nvSpPr>
        <p:spPr>
          <a:xfrm>
            <a:off x="6940296" y="4963668"/>
            <a:ext cx="146304" cy="362711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775704" y="5340096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4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24344" y="5340096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畫面死結、按鈕卡死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W11: AJAX 表單互動與無重新整理更新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區塊七：網絡超時與異常中斷防護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6924860" cy="4114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AbortController：為 Fetch 裝上中止訊號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P.532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P.32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AbortController 提供一個可以「主動中止請求」的訊號。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把它的 signal 交給 fetch，就能從外部喊停。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【📱 行動端特點】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搭配計時器，即可實現「逾時自動中止」。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這是為網路請求設定超時的標準做法。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2761488"/>
            <a:ext cx="4967935" cy="3383279"/>
          </a:xfrm>
          <a:prstGeom prst="roundRect">
            <a:avLst>
              <a:gd name="adj" fmla="val 35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2761488"/>
            <a:ext cx="4967935" cy="3657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739128" y="2898648"/>
            <a:ext cx="100584" cy="100584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940296" y="2898648"/>
            <a:ext cx="100584" cy="100584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141464" y="2898648"/>
            <a:ext cx="100584" cy="100584"/>
          </a:xfrm>
          <a:prstGeom prst="ellipse">
            <a:avLst/>
          </a:prstGeom>
          <a:solidFill>
            <a:srgbClr val="61D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52360" y="2843784"/>
            <a:ext cx="231617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AbortController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942271" y="2825496"/>
            <a:ext cx="1417320" cy="237744"/>
          </a:xfrm>
          <a:prstGeom prst="roundRect">
            <a:avLst>
              <a:gd name="adj" fmla="val 25000"/>
            </a:avLst>
          </a:prstGeom>
          <a:noFill/>
          <a:ln w="12700">
            <a:solidFill>
              <a:srgbClr val="61DA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942271" y="2862072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[React Native]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02552" y="3273552"/>
            <a:ext cx="310896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2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78040" y="3273552"/>
            <a:ext cx="4163263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const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ctrl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new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AbortController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fetch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url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{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signal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: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ctrl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signal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}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ctrl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abort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25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主動中止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W11: AJAX 表單互動與無重新整理更新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區塊七：網絡超時與異常中斷防護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7141262" cy="4114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超時炸彈：5 秒沒回應就自動斷線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P.533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P.33 / 50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755648"/>
            <a:ext cx="6850181" cy="4389120"/>
          </a:xfrm>
          <a:prstGeom prst="roundRect">
            <a:avLst>
              <a:gd name="adj" fmla="val 35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1755648"/>
            <a:ext cx="6850181" cy="3657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1892807"/>
            <a:ext cx="100584" cy="100584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" y="1892807"/>
            <a:ext cx="100584" cy="100584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289304" y="1892807"/>
            <a:ext cx="100584" cy="100584"/>
          </a:xfrm>
          <a:prstGeom prst="ellipse">
            <a:avLst/>
          </a:prstGeom>
          <a:solidFill>
            <a:srgbClr val="61D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00200" y="1837943"/>
            <a:ext cx="419842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5 秒超時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72357" y="1819656"/>
            <a:ext cx="1417320" cy="237744"/>
          </a:xfrm>
          <a:prstGeom prst="roundRect">
            <a:avLst>
              <a:gd name="adj" fmla="val 25000"/>
            </a:avLst>
          </a:prstGeom>
          <a:noFill/>
          <a:ln w="12700">
            <a:solidFill>
              <a:srgbClr val="61DA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72357" y="1856231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[React Native]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" y="2267712"/>
            <a:ext cx="310896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2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3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4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5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6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7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8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2267712"/>
            <a:ext cx="6045509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const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ctrl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new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AbortController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5 秒後強制中止這個請求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const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timer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setTimeout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&gt;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ctrl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abort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5000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try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{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const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res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await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fetch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url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{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signal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: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ctrl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signal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}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clearTimeout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timer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        </a:t>
            </a: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成功回來就拆彈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return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await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res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400" b="0" i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json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}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catch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{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/* 逾時或斷線 */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01741" y="1755648"/>
            <a:ext cx="360415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超時邏輯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01741" y="2194560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901741" y="2194560"/>
            <a:ext cx="45720" cy="89154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84621" y="2304288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setTimeout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5 秒後呼叫 abort。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01741" y="3214116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901741" y="3214116"/>
            <a:ext cx="45720" cy="89154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84621" y="3323844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signal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把中止訊號交給 fetch。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01741" y="4233672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901741" y="4233672"/>
            <a:ext cx="45720" cy="89154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84621" y="4343400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clearTimeout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成功回來就拆彈。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901741" y="5253228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901741" y="5253228"/>
            <a:ext cx="45720" cy="89154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84621" y="5362956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catch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逾時落入例外處理。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W11: AJAX 表單互動與無重新整理更新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區塊七：網絡超時與異常中斷防護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7357664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識別 AbortError：提示「內網擁塞，請稍後」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P.534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P.34 / 50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755648"/>
            <a:ext cx="6850181" cy="4389120"/>
          </a:xfrm>
          <a:prstGeom prst="roundRect">
            <a:avLst>
              <a:gd name="adj" fmla="val 35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1755648"/>
            <a:ext cx="6850181" cy="3657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1892807"/>
            <a:ext cx="100584" cy="100584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" y="1892807"/>
            <a:ext cx="100584" cy="100584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289304" y="1892807"/>
            <a:ext cx="100584" cy="100584"/>
          </a:xfrm>
          <a:prstGeom prst="ellipse">
            <a:avLst/>
          </a:prstGeom>
          <a:solidFill>
            <a:srgbClr val="61D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00200" y="1837943"/>
            <a:ext cx="419842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區分逾時錯誤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72357" y="1819656"/>
            <a:ext cx="1417320" cy="237744"/>
          </a:xfrm>
          <a:prstGeom prst="roundRect">
            <a:avLst>
              <a:gd name="adj" fmla="val 25000"/>
            </a:avLst>
          </a:prstGeom>
          <a:noFill/>
          <a:ln w="12700">
            <a:solidFill>
              <a:srgbClr val="61DA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72357" y="1856231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[React Native]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" y="2267712"/>
            <a:ext cx="310896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2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3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4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5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6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7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8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2267712"/>
            <a:ext cx="6045509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try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{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...fetch...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}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catch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{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if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name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'AbortError'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{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Alert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alert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'連線逾時'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'目前內網擁塞，請稍後再試'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}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else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{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Alert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alert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'錯誤'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message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}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01741" y="1755648"/>
            <a:ext cx="360415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錯誤識別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01741" y="2194560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901741" y="2194560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84621" y="2304288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e.name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逾時為 AbortError。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01741" y="3214116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901741" y="3214116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84621" y="3323844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分流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逾時與其他錯誤分開提示。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01741" y="4233672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901741" y="4233672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84621" y="4343400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友善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給使用者可理解的訊息。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901741" y="5253228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901741" y="5253228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84621" y="5362956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不洩漏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不把原始錯誤丟給使用者。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W11: AJAX 表單互動與無重新整理更新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區塊七：網絡超時與異常中斷防護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7574066" cy="4114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finally 復原：無論成敗都解鎖按鈕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P.535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P.35 / 50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755648"/>
            <a:ext cx="6850181" cy="4389120"/>
          </a:xfrm>
          <a:prstGeom prst="roundRect">
            <a:avLst>
              <a:gd name="adj" fmla="val 35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1755648"/>
            <a:ext cx="6850181" cy="3657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1892807"/>
            <a:ext cx="100584" cy="100584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" y="1892807"/>
            <a:ext cx="100584" cy="100584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289304" y="1892807"/>
            <a:ext cx="100584" cy="100584"/>
          </a:xfrm>
          <a:prstGeom prst="ellipse">
            <a:avLst/>
          </a:prstGeom>
          <a:solidFill>
            <a:srgbClr val="61D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00200" y="1837943"/>
            <a:ext cx="419842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finally 解鎖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72357" y="1819656"/>
            <a:ext cx="1417320" cy="237744"/>
          </a:xfrm>
          <a:prstGeom prst="roundRect">
            <a:avLst>
              <a:gd name="adj" fmla="val 25000"/>
            </a:avLst>
          </a:prstGeom>
          <a:noFill/>
          <a:ln w="12700">
            <a:solidFill>
              <a:srgbClr val="61DA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72357" y="1856231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[React Native]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" y="2267712"/>
            <a:ext cx="310896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2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3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4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5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6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7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8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2267712"/>
            <a:ext cx="6045509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setIsSubmitting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true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try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{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await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submitWithTimeout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}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catch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{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處理錯誤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}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finally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{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setIsSubmitting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false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</a:t>
            </a: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成敗都要解鎖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}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無論走哪條路，按鈕最終都會恢復可用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01741" y="1755648"/>
            <a:ext cx="360415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finally 重點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01741" y="2194560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901741" y="2194560"/>
            <a:ext cx="45720" cy="89154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84621" y="2304288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必執行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成功、失敗都會跑。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01741" y="3214116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901741" y="3214116"/>
            <a:ext cx="45720" cy="89154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84621" y="3323844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解鎖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確保按鈕不會卡死。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01741" y="4233672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901741" y="4233672"/>
            <a:ext cx="45720" cy="89154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84621" y="4343400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釋放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釋放被鎖定的 UI 狀態。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901741" y="5253228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901741" y="5253228"/>
            <a:ext cx="45720" cy="89154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84621" y="5362956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習慣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收尾動作都放這裡。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W11: AJAX 表單互動與無重新整理更新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區塊八：跨平台 JSON 欄位對齊規範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7790468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協作痛點：前後端命名風格的衝突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P.536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P.36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前後端最常見的隱形 Bug，來自欄位命名不一致。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一邊 productId、一邊 product_id，對應時全部落空。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F59E0B"/>
                </a:solidFill>
                <a:latin typeface="Noto Sans TC"/>
                <a:ea typeface="Noto Sans TC"/>
                <a:cs typeface="Noto Sans TC"/>
              </a:rPr>
              <a:t>【⚡ 效能警告】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資料靜靜變成 undefined 或 NULL，卻不報錯。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解法是團隊事先約定一套統一的命名契約。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命名風格衝突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75704" y="2359152"/>
            <a:ext cx="4492447" cy="1091183"/>
          </a:xfrm>
          <a:prstGeom prst="roundRect">
            <a:avLst>
              <a:gd name="adj" fmla="val 10000"/>
            </a:avLst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前端習慣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camelCase 駝峰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775704" y="3614928"/>
            <a:ext cx="4492447" cy="1091183"/>
          </a:xfrm>
          <a:prstGeom prst="roundRect">
            <a:avLst>
              <a:gd name="adj" fmla="val 10000"/>
            </a:avLst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後端習慣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snake_case 蛇形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775704" y="4870704"/>
            <a:ext cx="4492447" cy="1091183"/>
          </a:xfrm>
          <a:prstGeom prst="roundRect">
            <a:avLst>
              <a:gd name="adj" fmla="val 10000"/>
            </a:avLst>
          </a:prstGeom>
          <a:solidFill>
            <a:srgbClr val="1A2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衝突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對不上 → 資料遺失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W11: AJAX 表單互動與無重新整理更新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區塊八：跨平台 JSON 欄位對齊規範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8006870" cy="4114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前端駝峰：JavaScript 的 stockQuantity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P.537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P.37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JavaScript 與 React Native 慣用駝峰命名法。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多個單字相連，第二個字起首字母大寫：stockQuantity。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【📱 行動端特點】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這是前端生態圈的主流風格。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變數、屬性、函數名都遵循這套慣例。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駝峰命名示例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6775704" y="2359152"/>
          <a:ext cx="4492446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50425"/>
                <a:gridCol w="2042021"/>
              </a:tblGrid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前端 camelCase</a:t>
                      </a:r>
                    </a:p>
                  </a:txBody>
                  <a:tcPr marL="91440" marR="91440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語意</a:t>
                      </a:r>
                    </a:p>
                  </a:txBody>
                  <a:tcPr marL="91440" marR="91440" anchor="ctr">
                    <a:solidFill>
                      <a:srgbClr val="0F172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stockQuantity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庫存量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productId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商品編號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createdAt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建立時間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userId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使用者編號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W11: AJAX 表單互動與無重新整理更新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區塊八：跨平台 JSON 欄位對齊規範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8223272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後端蛇形：MariaDB 的 stock_quantity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P.538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P.38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資料庫與 SQL 慣用蛇形命名法。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單字之間以底線相連，全小寫：stock_quantity。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【🗄️ 資料庫操作】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這是關聯式資料庫欄位命名的主流風格。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同一個概念，兩端的寫法卻天生不同。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蛇形命名示例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6775704" y="2359152"/>
          <a:ext cx="4492446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50425"/>
                <a:gridCol w="2042021"/>
              </a:tblGrid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後端 snake_case</a:t>
                      </a:r>
                    </a:p>
                  </a:txBody>
                  <a:tcPr marL="91440" marR="91440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語意</a:t>
                      </a:r>
                    </a:p>
                  </a:txBody>
                  <a:tcPr marL="91440" marR="91440" anchor="ctr">
                    <a:solidFill>
                      <a:srgbClr val="0F172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stock_quantity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庫存量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product_id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商品編號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created_at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建立時間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user_id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使用者編號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W11: AJAX 表單互動與無重新整理更新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區塊八：跨平台 JSON 欄位對齊規範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8439674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統一契約：在 PHP 邊界做欄位映射轉換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P.539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P.39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策略一：在 PHP 回傳前，把 snake_case 映射成 camelCase。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策略二：前端嚴格遵守後端的 snake_case 命名。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【🗄️ 資料庫操作】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本課程採策略二：全站統一用 snake_case，最單純。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無論選哪種，重點是「全班只有一套規則」。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兩種對齊策略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37960" y="2359152"/>
            <a:ext cx="2410815" cy="37673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37960" y="2359152"/>
            <a:ext cx="2410815" cy="420624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PHP 端映射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02552" y="2926080"/>
            <a:ext cx="2081631" cy="3127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後端轉換欄位名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前端維持駝峰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多一層轉換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各自舒適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95079" y="2359152"/>
            <a:ext cx="2410815" cy="37673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095079" y="2359152"/>
            <a:ext cx="2410815" cy="420624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前端遵守後端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59671" y="2926080"/>
            <a:ext cx="2081631" cy="3127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全站 snake_case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零轉換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最單純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本課程採用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W11: AJAX 表單互動與無重新整理更新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區塊八：跨平台 JSON 欄位對齊規範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8656076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對照表：十張表欄位與 JSON 變數精確對齊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P.540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P.40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把十張表的所有欄位，與前端 JSON 變數逐一對齊。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這張對照表，就是前後端協作的欄位契約。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【🗄️ 資料庫操作】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任何新欄位都要先登記進來，再開始寫程式。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契約寫在前面，才不會事後對不上而全盤重來。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欄位對齊契約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6775704" y="2359152"/>
          <a:ext cx="4492446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7482"/>
                <a:gridCol w="2994964"/>
              </a:tblGrid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資料表</a:t>
                      </a:r>
                    </a:p>
                  </a:txBody>
                  <a:tcPr marL="91440" marR="91440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統一欄位（snake_case）</a:t>
                      </a:r>
                    </a:p>
                  </a:txBody>
                  <a:tcPr marL="91440" marR="91440" anchor="ctr">
                    <a:solidFill>
                      <a:srgbClr val="0F172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products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product_id, price, stock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users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user_id, email, name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orders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order_id, total, status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reviews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review_id, rating, comment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W11: AJAX 表單互動與無重新整理更新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區塊九：preventDefault 與 JSON 解析除錯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8872478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錯誤一：漏 preventDefault，網址多問號卻沒寫入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P.541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P.41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症狀：按上架後頁面閃一下，網址多了問號，資料庫卻空空。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這是漏寫 e.preventDefault() 的典型指紋。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F59E0B"/>
                </a:solidFill>
                <a:latin typeface="Noto Sans TC"/>
                <a:ea typeface="Noto Sans TC"/>
                <a:cs typeface="Noto Sans TC"/>
              </a:rPr>
              <a:t>【⚡ 效能警告】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瀏覽器的預設跳轉搶在 AJAX 之前執行了。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看到「閃爍 + 網址帶問號」，先檢查有沒有 preventDefault。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症狀與指紋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75704" y="2359152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24344" y="2359152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頁面閃爍一下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6940296" y="2976372"/>
            <a:ext cx="146304" cy="362711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775704" y="3352800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24344" y="3352800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網址多了問號</a:t>
            </a:r>
          </a:p>
        </p:txBody>
      </p:sp>
      <p:sp>
        <p:nvSpPr>
          <p:cNvPr id="20" name="Down Arrow 19"/>
          <p:cNvSpPr/>
          <p:nvPr/>
        </p:nvSpPr>
        <p:spPr>
          <a:xfrm>
            <a:off x="6940296" y="3970020"/>
            <a:ext cx="146304" cy="362711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775704" y="4346448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24344" y="4346448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資料庫空空如也</a:t>
            </a:r>
          </a:p>
        </p:txBody>
      </p:sp>
      <p:sp>
        <p:nvSpPr>
          <p:cNvPr id="23" name="Down Arrow 22"/>
          <p:cNvSpPr/>
          <p:nvPr/>
        </p:nvSpPr>
        <p:spPr>
          <a:xfrm>
            <a:off x="6940296" y="4963668"/>
            <a:ext cx="146304" cy="362711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775704" y="5340096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4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24344" y="5340096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→ 補上 preventDefault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W11: AJAX 表單互動與無重新整理更新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區塊九：preventDefault 與 JSON 解析除錯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9088879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錯誤二：PHP 夾帶 echo，前端 JSON 解析崩潰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P.542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P.42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後端在 JSON 之外夾帶了除錯用的 echo 文字。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前端 res.json() 遇到非 JSON 開頭，直接拋 SyntaxError。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F59E0B"/>
                </a:solidFill>
                <a:latin typeface="Noto Sans TC"/>
                <a:ea typeface="Noto Sans TC"/>
                <a:cs typeface="Noto Sans TC"/>
              </a:rPr>
              <a:t>【⚡ 效能警告】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訊息：Unexpected token &lt; in JSON at position 0。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那個 &lt; 往往是 PHP 警告的 HTML 或多餘輸出。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2944368"/>
            <a:ext cx="4967935" cy="3200400"/>
          </a:xfrm>
          <a:prstGeom prst="roundRect">
            <a:avLst>
              <a:gd name="adj" fmla="val 35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2944368"/>
            <a:ext cx="4967935" cy="3657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739128" y="3081527"/>
            <a:ext cx="100584" cy="100584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940296" y="3081527"/>
            <a:ext cx="100584" cy="100584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141464" y="3081527"/>
            <a:ext cx="100584" cy="100584"/>
          </a:xfrm>
          <a:prstGeom prst="ellipse">
            <a:avLst/>
          </a:prstGeom>
          <a:solidFill>
            <a:srgbClr val="61D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52360" y="3026663"/>
            <a:ext cx="231617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解析錯誤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942271" y="3008375"/>
            <a:ext cx="1417320" cy="237744"/>
          </a:xfrm>
          <a:prstGeom prst="roundRect">
            <a:avLst>
              <a:gd name="adj" fmla="val 25000"/>
            </a:avLst>
          </a:prstGeom>
          <a:noFill/>
          <a:ln w="12700">
            <a:solidFill>
              <a:srgbClr val="61DA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942271" y="3044951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[React Native]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02552" y="3456432"/>
            <a:ext cx="310896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2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3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78040" y="3456432"/>
            <a:ext cx="4163263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SyntaxError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: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Unexpected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token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&lt;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in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JSON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at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position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0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後端混入了非 JSON 輸出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W11: AJAX 表單互動與無重新整理更新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區塊九：preventDefault 與 JSON 解析除錯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9305281" cy="4114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除錯密技：印出 response.text() 看原始回應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P.543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P.43 / 50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755648"/>
            <a:ext cx="6850181" cy="4389120"/>
          </a:xfrm>
          <a:prstGeom prst="roundRect">
            <a:avLst>
              <a:gd name="adj" fmla="val 35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1755648"/>
            <a:ext cx="6850181" cy="3657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1892807"/>
            <a:ext cx="100584" cy="100584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" y="1892807"/>
            <a:ext cx="100584" cy="100584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289304" y="1892807"/>
            <a:ext cx="100584" cy="100584"/>
          </a:xfrm>
          <a:prstGeom prst="ellipse">
            <a:avLst/>
          </a:prstGeom>
          <a:solidFill>
            <a:srgbClr val="61D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00200" y="1837943"/>
            <a:ext cx="419842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檢視原始回應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72357" y="1819656"/>
            <a:ext cx="1417320" cy="237744"/>
          </a:xfrm>
          <a:prstGeom prst="roundRect">
            <a:avLst>
              <a:gd name="adj" fmla="val 25000"/>
            </a:avLst>
          </a:prstGeom>
          <a:noFill/>
          <a:ln w="12700">
            <a:solidFill>
              <a:srgbClr val="61DA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72357" y="1856231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[React Native]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" y="2267712"/>
            <a:ext cx="310896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2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3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4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5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2267712"/>
            <a:ext cx="6045509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const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res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await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fetch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url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options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先別急著 .json()，先看後端到底回了什麼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const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raw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await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res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text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console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400" b="0" i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log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'原始回應：'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raw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若開頭混入 &lt;br&gt; 或 Warning，即是後端夾帶了雜質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01741" y="1755648"/>
            <a:ext cx="360415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除錯步驟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01741" y="2194560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901741" y="2194560"/>
            <a:ext cx="45720" cy="89154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84621" y="2304288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.text()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取得未解析的原始字串。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01741" y="3214116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901741" y="3214116"/>
            <a:ext cx="45720" cy="89154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84621" y="3323844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看開頭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JSON 應以 { 或 [ 開頭。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01741" y="4233672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901741" y="4233672"/>
            <a:ext cx="45720" cy="89154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84621" y="4343400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找雜質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揪出後端多餘輸出。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901741" y="5253228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901741" y="5253228"/>
            <a:ext cx="45720" cy="89154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84621" y="5362956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清除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移除 echo 與警告。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W11: AJAX 表單互動與無重新整理更新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區塊九：preventDefault 與 JSON 解析除錯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9521683" cy="4114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Network 標籤：檢查 Payload 是否為標準 JSON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P.544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P.44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瀏覽器開發者工具的 Network 標籤是除錯利器。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點開該次請求，可看到實際送出的 Payload。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【📱 行動端特點】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確認它是格式正確的 JSON，而非表單編碼。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同時能看到回應狀態碼與回傳內容，一目了然。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Network 排查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6775704" y="2359152"/>
          <a:ext cx="4492446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8156"/>
                <a:gridCol w="2314290"/>
              </a:tblGrid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Network 檢視項</a:t>
                      </a:r>
                    </a:p>
                  </a:txBody>
                  <a:tcPr marL="91440" marR="91440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確認</a:t>
                      </a:r>
                    </a:p>
                  </a:txBody>
                  <a:tcPr marL="91440" marR="91440" anchor="ctr">
                    <a:solidFill>
                      <a:srgbClr val="0F172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Request Payload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JSON 結構正確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Content-Type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application/json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Status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201 / 400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Response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乾淨 JSON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W11: AJAX 表單互動與無重新整理更新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區塊九：preventDefault 與 JSON 解析除錯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9738085" cy="4114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掃除暗礁：跨平台表單寫入全面打通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P.545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P.45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preventDefault、乾淨 JSON、欄位對齊，三大暗礁掃除。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網頁與手機兩端的表單寫入都能穩定運作。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【🗄️ 資料庫操作】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資料完整、無重複、無空白地落進 MariaDB。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至此，跨平台的 AJAX 寫入實作全面成熟。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5000"/>
            </a:avLst>
          </a:prstGeom>
          <a:solidFill>
            <a:srgbClr val="ECFDFF"/>
          </a:solidFill>
          <a:ln w="15875">
            <a:solidFill>
              <a:srgbClr val="1E7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57416" y="1938528"/>
            <a:ext cx="4529023" cy="40233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45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寫入前必查清單</a:t>
            </a:r>
          </a:p>
          <a:p>
            <a:pPr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3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網頁表單有 e.preventDefault()。</a:t>
            </a:r>
          </a:p>
          <a:p>
            <a:pPr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3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後端回應是乾淨 JSON，無多餘輸出。</a:t>
            </a:r>
          </a:p>
          <a:p>
            <a:pPr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3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前後端欄位命名完全對齊。</a:t>
            </a:r>
          </a:p>
          <a:p>
            <a:pPr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3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有防連點與超時保護。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W11: AJAX 表單互動與無重新整理更新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區塊十：本週大雙通實驗驗收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9954487" cy="4114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雙重指標：網頁上架成功、手機評價成功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P.546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P.46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指標一：在 PC admin.html 成功上架一件商品。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指標二：在手機 App 商品詳情成功發表一則評價。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【🗄️ 資料庫操作】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兩者都要真正落盤到 MariaDB，可在 phpMyAdmin 驗證。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一寫（網頁）一評（手機），涵蓋雙端寫入能力。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雙通驗收檢核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75704" y="2359152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✔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24344" y="2359152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網頁上架回 201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6940296" y="2976372"/>
            <a:ext cx="146304" cy="362711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775704" y="3352800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✔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24344" y="3352800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手機評價回 201</a:t>
            </a:r>
          </a:p>
        </p:txBody>
      </p:sp>
      <p:sp>
        <p:nvSpPr>
          <p:cNvPr id="20" name="Down Arrow 19"/>
          <p:cNvSpPr/>
          <p:nvPr/>
        </p:nvSpPr>
        <p:spPr>
          <a:xfrm>
            <a:off x="6940296" y="3970020"/>
            <a:ext cx="146304" cy="362711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775704" y="4346448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✔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24344" y="4346448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資料落盤 MariaDB</a:t>
            </a:r>
          </a:p>
        </p:txBody>
      </p:sp>
      <p:sp>
        <p:nvSpPr>
          <p:cNvPr id="23" name="Down Arrow 22"/>
          <p:cNvSpPr/>
          <p:nvPr/>
        </p:nvSpPr>
        <p:spPr>
          <a:xfrm>
            <a:off x="6940296" y="4963668"/>
            <a:ext cx="146304" cy="362711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775704" y="5340096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✔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24344" y="5340096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局部刷新即時呈現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W11: AJAX 表單互動與無重新整理更新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區塊十：本週大雙通實驗驗收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10170889" cy="4114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現場展演：網頁送出，手機重整即見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P.547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P.47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10820095" cy="2331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學生在 PC 網頁按下送出上架。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教師立刻拿起學生手機 App，重整商品列表。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【🗄️ 資料庫操作】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剛上架的商品，應立即出現在手機畫面上。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跨裝置的一致性，是三層架構打通的鐵證。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4224528"/>
            <a:ext cx="10820095" cy="192024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85800" y="4224528"/>
            <a:ext cx="54864" cy="192024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1832" y="4407408"/>
            <a:ext cx="1030803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跨裝置一致性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23544" y="4828032"/>
            <a:ext cx="2808122" cy="1042416"/>
          </a:xfrm>
          <a:prstGeom prst="roundRect">
            <a:avLst>
              <a:gd name="adj" fmla="val 9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61DAFB"/>
                </a:solidFill>
                <a:latin typeface="Noto Sans TC"/>
                <a:ea typeface="Noto Sans TC"/>
                <a:cs typeface="Noto Sans TC"/>
              </a:rPr>
              <a:t>PC 上架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POST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3786530" y="5257800"/>
            <a:ext cx="850392" cy="182880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31666" y="4946904"/>
            <a:ext cx="960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寫入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691786" y="4828032"/>
            <a:ext cx="2808122" cy="1042416"/>
          </a:xfrm>
          <a:prstGeom prst="roundRect">
            <a:avLst>
              <a:gd name="adj" fmla="val 9000"/>
            </a:avLst>
          </a:prstGeom>
          <a:solidFill>
            <a:srgbClr val="1A2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61DAFB"/>
                </a:solidFill>
                <a:latin typeface="Noto Sans TC"/>
                <a:ea typeface="Noto Sans TC"/>
                <a:cs typeface="Noto Sans TC"/>
              </a:rPr>
              <a:t>MariaDB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落盤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7554772" y="5257800"/>
            <a:ext cx="850392" cy="182880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99908" y="4946904"/>
            <a:ext cx="960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讀取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460028" y="4828032"/>
            <a:ext cx="2808122" cy="1042416"/>
          </a:xfrm>
          <a:prstGeom prst="roundRect">
            <a:avLst>
              <a:gd name="adj" fmla="val 9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61DAFB"/>
                </a:solidFill>
                <a:latin typeface="Noto Sans TC"/>
                <a:ea typeface="Noto Sans TC"/>
                <a:cs typeface="Noto Sans TC"/>
              </a:rPr>
              <a:t>手機重整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看見新品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W11: AJAX 表單互動與無重新整理更新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區塊十：本週大雙通實驗驗收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10387291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隨堂給分：防連點與後端防禦到位者特優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P.548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P.48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評分不只看「能不能寫入」，更看「安不安全」。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表單防連點、後端二次驗證做到位者，給予特優。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【🗄️ 資料庫操作】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只求能跑、缺乏防禦的實作，分數受限。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安全意識，是本課程一以貫之的評分重點。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5000"/>
            </a:avLst>
          </a:prstGeom>
          <a:solidFill>
            <a:srgbClr val="F3F3FA"/>
          </a:solidFill>
          <a:ln w="15875">
            <a:solidFill>
              <a:srgbClr val="777B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57416" y="1938528"/>
            <a:ext cx="4529023" cy="40233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45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特優加分項</a:t>
            </a:r>
          </a:p>
          <a:p>
            <a:pPr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3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送出時鎖定按鈕防連點。</a:t>
            </a:r>
          </a:p>
          <a:p>
            <a:pPr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3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後端 empty 檢查嚴謹。</a:t>
            </a:r>
          </a:p>
          <a:p>
            <a:pPr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3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有超時與錯誤處理。</a:t>
            </a:r>
          </a:p>
          <a:p>
            <a:pPr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3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欄位命名前後端一致。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W11: AJAX 表單互動與無重新整理更新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區塊十：本週大雙通實驗驗收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10603693" cy="4114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本週小結：跨平台雙向讀寫完全封頂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P.549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P.49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10820095" cy="2331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上週打通讀取，本週打通寫入，讀寫雙向俱全。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網頁與手機兩端，都能安全地把資料寫進雲端。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【🗄️ 資料庫操作】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配合局部刷新，體驗流暢且即時。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靜態的資料互動，至此全面成熟。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23544" y="4361688"/>
            <a:ext cx="2808122" cy="1371600"/>
          </a:xfrm>
          <a:prstGeom prst="roundRect">
            <a:avLst>
              <a:gd name="adj" fmla="val 9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61DAFB"/>
                </a:solidFill>
                <a:latin typeface="Noto Sans TC"/>
                <a:ea typeface="Noto Sans TC"/>
                <a:cs typeface="Noto Sans TC"/>
              </a:rPr>
              <a:t>手機 / 網頁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讀 + 寫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3786530" y="4956048"/>
            <a:ext cx="850392" cy="182880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31666" y="4645151"/>
            <a:ext cx="960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Read/Write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91786" y="4361688"/>
            <a:ext cx="2808122" cy="1371600"/>
          </a:xfrm>
          <a:prstGeom prst="roundRect">
            <a:avLst>
              <a:gd name="adj" fmla="val 9000"/>
            </a:avLst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PHP API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EEEEF8"/>
                </a:solidFill>
                <a:latin typeface="Noto Sans TC"/>
                <a:ea typeface="Noto Sans TC"/>
                <a:cs typeface="Noto Sans TC"/>
              </a:rPr>
              <a:t>雙向處理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7554772" y="4956048"/>
            <a:ext cx="850392" cy="182880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9908" y="4645151"/>
            <a:ext cx="960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CRUD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460028" y="4361688"/>
            <a:ext cx="2808122" cy="1371600"/>
          </a:xfrm>
          <a:prstGeom prst="roundRect">
            <a:avLst>
              <a:gd name="adj" fmla="val 9000"/>
            </a:avLst>
          </a:prstGeom>
          <a:solidFill>
            <a:srgbClr val="1A2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61DAFB"/>
                </a:solidFill>
                <a:latin typeface="Noto Sans TC"/>
                <a:ea typeface="Noto Sans TC"/>
                <a:cs typeface="Noto Sans TC"/>
              </a:rPr>
              <a:t>MariaDB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資料落盤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W11: AJAX 表單互動與無重新整理更新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區塊十：本週大雙通實驗驗收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下週預告：邁向即時化，AJAX 短輪詢監聽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P.550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P.50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資料能讀能寫了，但畫面還不會「自動」更新。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第 12 週引入短輪詢：讓 App 定時自動抓最新狀態。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【📱 行動端特點】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不必手動重整，訂單狀態自己跳出來。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系統將從靜態，升級為具備即時感知的動態系統。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第 12 週重點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75704" y="2359152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24344" y="2359152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setInterval 定時輪詢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6940296" y="2976372"/>
            <a:ext cx="146304" cy="362711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775704" y="3352800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24344" y="3352800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每 2 秒查一次狀態</a:t>
            </a:r>
          </a:p>
        </p:txBody>
      </p:sp>
      <p:sp>
        <p:nvSpPr>
          <p:cNvPr id="20" name="Down Arrow 19"/>
          <p:cNvSpPr/>
          <p:nvPr/>
        </p:nvSpPr>
        <p:spPr>
          <a:xfrm>
            <a:off x="6940296" y="3970020"/>
            <a:ext cx="146304" cy="362711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775704" y="4346448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24344" y="4346448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狀態變即時反映</a:t>
            </a:r>
          </a:p>
        </p:txBody>
      </p:sp>
      <p:sp>
        <p:nvSpPr>
          <p:cNvPr id="23" name="Down Arrow 22"/>
          <p:cNvSpPr/>
          <p:nvPr/>
        </p:nvSpPr>
        <p:spPr>
          <a:xfrm>
            <a:off x="6940296" y="4963668"/>
            <a:ext cx="146304" cy="362711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775704" y="5340096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4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24344" y="5340096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計時器的清除機制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