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69503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53551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37599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1647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05695" y="1005840"/>
            <a:ext cx="237744" cy="237744"/>
          </a:xfrm>
          <a:prstGeom prst="rect">
            <a:avLst/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85455" y="1737360"/>
            <a:ext cx="3566160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703320" cy="2880360"/>
          </a:xfrm>
          <a:prstGeom prst="roundRect">
            <a:avLst>
              <a:gd name="adj" fmla="val 4000"/>
            </a:avLst>
          </a:prstGeom>
          <a:solidFill>
            <a:srgbClr val="1A20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64524" y="2249424"/>
            <a:ext cx="493776" cy="786384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9972" y="2295144"/>
            <a:ext cx="182880" cy="27432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46820" y="2450592"/>
            <a:ext cx="27432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6820" y="2578608"/>
            <a:ext cx="201168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6820" y="2706624"/>
            <a:ext cx="237744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6820" y="2834640"/>
            <a:ext cx="329184" cy="109728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79508" y="2304288"/>
            <a:ext cx="1097280" cy="640080"/>
          </a:xfrm>
          <a:prstGeom prst="roundRect">
            <a:avLst>
              <a:gd name="adj" fmla="val 6000"/>
            </a:avLst>
          </a:prstGeom>
          <a:noFill/>
          <a:ln w="2032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70948" y="2432304"/>
            <a:ext cx="621792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70948" y="2560320"/>
            <a:ext cx="45720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70948" y="2688336"/>
            <a:ext cx="548640" cy="457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0948" y="2798064"/>
            <a:ext cx="731520" cy="54864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8068" y="2944368"/>
            <a:ext cx="1280160" cy="9144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8492" y="30906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手機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8068" y="309067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Notebook 筆電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439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17175" y="3255263"/>
            <a:ext cx="21945" cy="10972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0439" y="3364991"/>
            <a:ext cx="1338681" cy="2194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58807" y="3364991"/>
            <a:ext cx="21945" cy="2560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1220" y="34198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AJAX / 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8220" y="362102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778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PHP  API  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58807" y="4169663"/>
            <a:ext cx="21945" cy="2011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1220" y="4169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PDO</a:t>
            </a:r>
          </a:p>
        </p:txBody>
      </p:sp>
      <p:sp>
        <p:nvSpPr>
          <p:cNvPr id="34" name="Magnetic Disk 33"/>
          <p:cNvSpPr/>
          <p:nvPr/>
        </p:nvSpPr>
        <p:spPr>
          <a:xfrm>
            <a:off x="8892540" y="4407408"/>
            <a:ext cx="1554479" cy="475488"/>
          </a:xfrm>
          <a:prstGeom prst="flowChartMagneticDisk">
            <a:avLst/>
          </a:prstGeom>
          <a:noFill/>
          <a:ln w="19050">
            <a:solidFill>
              <a:srgbClr val="61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MariaDB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1874519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1DAFB"/>
                </a:solidFill>
                <a:latin typeface="Consolas"/>
                <a:ea typeface="Consolas"/>
                <a:cs typeface="Consolas"/>
              </a:rPr>
              <a:t>WEEK 04  /  50 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2377440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</a:p>
          <a:p>
            <a:pPr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sz="2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第 4 週：資料庫關聯性設計與 SQL 語法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315968"/>
            <a:ext cx="1371600" cy="45720"/>
          </a:xfrm>
          <a:prstGeom prst="rect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57200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核心命題：正確的關聯，讓十張表如同一個整體運作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9692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Designed by : </a:t>
            </a:r>
            <a:r>
              <a:rPr sz="1400" b="1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Salu Chen &amp; Claude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6235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資訊技術整合　|　全域第 151 ~ 200 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技術主軸：正規化 · ERD · 外部鍵 · JOIN · 交易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區塊一：正規化理論與資料冗餘危機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資料冗餘是慢性病：同一份資料存多份，遲早互相矛盾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若把分類名稱直接寫進每一筆商品，改一次名就要更新數萬列。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更新途中一旦中斷，同一分類會出現新舊兩種名稱並存。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冗餘不只浪費空間，更會造成「同一事實有多個版本」的不一致。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正規化的目標：讓每一個事實，都只在資料庫中儲存唯一一份。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兩種設計的代價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冗餘設計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分類名寫在每筆商品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改名需更新上萬列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易出現不一致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浪費儲存空間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正規化設計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分類名只存一份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改名只動一列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資料永遠一致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以編號建立關聯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區塊一：正規化理論與資料冗餘危機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第一正規化 1NF：每個欄位只能裝一個值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原子性：一個欄位不得同時塞入手機與市話兩個值。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把「0912...,02-2...」拆成獨立欄位或獨立資料列。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違反 1NF 時，任何以電話查詢的 SQL 都會變得極其笨拙。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1NF 是一切後續正規化的前提，先做到欄位不可再分。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電話欄位的拆解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223"/>
                <a:gridCol w="2246223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違反 1NF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符合 1NF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phone: '0912,02-2'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mobile: '0912...'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一欄多值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landline: '02-2...'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難以查詢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各欄單一值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難以驗證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可獨立驗證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區塊一：正規化理論與資料冗餘危機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第二正規化 2NF：非主鍵欄位要完全相依於整個主鍵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2NF 針對複合主鍵而言：欄位不可只相依於主鍵的一部分。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訂單明細以（order_id, product_id）為主鍵時，商品名稱只相依 product_id。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這種「部分相依」會讓商品名稱在每筆明細中重複儲存。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解法：把只相依於部分主鍵的欄位，移到它該歸屬的資料表。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含 product_name（部分相依）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移出欄位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product_name 的正確歸屬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區塊一：正規化理論與資料冗餘危機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第三正規化 3NF：非主鍵欄位之間不可互相牽連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遞移相依：商品表若存 category_name，它其實相依於 category_id。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category_id 又相依於主鍵，形成「主鍵→分類 id→分類名」的鏈。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category_name 抽到 categories 表，正是拆分商品與分類的學術依據。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3NF 完成後，本課程的商品與分類就成了兩張各司其職的表。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存 category_name（遞移相依）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抽出分類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675887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categories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category_name 的正確歸屬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區塊二：ERD 繪製與商務邏輯建模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29841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ERD 是資料庫的藍圖：用實體、屬性與關係說清楚全局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實體（Entity）：對應一張資料表，如 Users、Products。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屬性（Attribute）：實體的欄位，其中主鍵通常以底線標記。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關係（Relationship）：實體之間如何連結，是設計的核心。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先畫 ERD 再寫 DDL，能在動手前就發現結構上的錯誤。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ERD 三大構成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實體 Entity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一張資料表，如 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614928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屬性 Attribute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欄位與主鍵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870704"/>
            <a:ext cx="4492447" cy="1091183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關係 Relationship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實體間的連結與基數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區塊二：ERD 繪製與商務邏輯建模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51481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基數標記：一對一、一對多與多對多各代表什麼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1:1 —— 一筆對一筆，如使用者與其唯一的個人設定。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1:N —— 一對多，如一個分類擁有多件商品。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M:N —— 多對多，如一張訂單含多件商品、一件商品出現在多張訂單。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判斷基數的問法：這一邊的一筆，對應到另一邊的幾筆？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基數對照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347"/>
                <a:gridCol w="313109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基數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電商實例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: 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 — 個人設定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: 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分類 — 商品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 : 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 — 訂單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 : 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訂單 — 商品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區塊二：ERD 繪製與商務邏輯建模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73121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電商核心建模：Users、Orders 與 Products 的三角關係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 Users 可擁有多個 Orders，屬單純的一對多。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一個 Orders 可包含多個 Products，一個 Products 也出現在多張 Orders。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後者是典型的多對多，無法只靠兩張表直接表達。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下一頁將說明關聯式資料庫如何破解多對多。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會員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 :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M : 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區塊二：ERD 繪製與商務邏輯建模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94761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多對多的破解：引入 Order_Items 橋樑表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P.09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關聯式資料庫無法在單一欄位存放多個外部鍵，故無法直接表達 M:N。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解法：新增一張橋樑表，把一個 M:N 拆成兩個 1:N。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Order_Items 各持有 order_id 與 product_id 兩個外部鍵。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橋樑表還能存放「該筆明細的數量與單價」等關係本身的屬性。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訂單主檔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87970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3106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 :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3226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橋樑表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5492" y="42702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628" y="39593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N 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10748" y="3675887"/>
            <a:ext cx="85740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商品主檔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區塊二：ERD 繪製與商務邏輯建模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16401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鴉腳圖成形：四張表串起一條完整的下單資料鏈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Users → Orders → Order_Items → Products，構成下單的資料主幹。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鴉腳號（Crow's Foot）以分岔端標示「多」的一方。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每一條連線都會在下一區塊落實為一個 FOREIGN KEY 約束。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7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完整的 ERD 是後續所有 JOIN 查詢的地圖。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133087"/>
            <a:ext cx="10820095" cy="2011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133087"/>
            <a:ext cx="54864" cy="20116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31596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下單資料鏈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會員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44469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9605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1:N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725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670651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5787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1:N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75907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96833" y="521208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1969" y="4901183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N:1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2089" y="4736592"/>
            <a:ext cx="1866061" cy="113385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區塊三：外部鍵約束詳解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38042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外部鍵的職責：保證每一個參照都指向真實存在的資料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外部鍵是一張表的欄位，指向另一張表的主鍵。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它維護「參照完整性」：不允許指向不存在的目標。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有了外部鍵，資料庫本身就會拒絕產生孤兒資料。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外部鍵僅在 InnoDB 生效，MyISAM 會靜默忽略。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外部鍵的指向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子表欄位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products.category_id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指向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FOREIGN KEY 參照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父表主鍵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categories.id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區塊三：外部鍵約束詳解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59682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外部鍵的物理約束力：不存在的 category_id 根本寫不進去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ddl/products_fk.sql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VARCHAR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categories 中沒有 id = 99，以下寫入直接被拒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99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'測試商品'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錯誤 1452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約束效果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L6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宣告 category_id 必須存在於父表。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寫入前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資料庫先檢查父表是否有該筆。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1452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父列不存在時回傳的錯誤碼。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價值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髒資料在寫入的瞬間就被擋下。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區塊三：外部鍵約束詳解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281322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ON DELETE CASCADE：父資料被刪，子資料跟著清空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P.13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CASCADE 讓刪除自動向下傳遞：刪使用者即清空其購物車。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適用於「子資料離開父資料就毫無意義」的情境。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威力強大也危險，一次刪除可能連鎖影響大量資料列。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務必想清楚:這筆父資料消失後，子資料是否真的該一起消失。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級聯刪除的傳遞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刪除 users 中某位使用者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資料庫偵測到 CASCADE 約束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自動刪除其 cart 中所有列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父子資料一併清空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區塊三：外部鍵約束詳解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02962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SET NULL 與 RESTRICT：不是所有關係都該連坐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 NULL：父資料刪除後，子資料的外部鍵設為 NULL，紀錄保留。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RESTRICT：只要還有子資料參照，就禁止刪除父資料。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財務與歷史紀錄多採 SET NULL 或 RESTRICT，以保全帳目。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選擇的準則：這筆歷史，未來還需不需要被查閱與稽核？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四種級聯行為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行為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父資料刪除時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CASCADE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子資料一併刪除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SET NULL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外部鍵設為 NULL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RESTRICT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禁止刪除父資料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NO ACTION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 RESTRICT（預設）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區塊三：外部鍵約束詳解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24602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外部鍵的隱形成本：每次寫入都要多一次檢查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每筆 INSERT／UPDATE 都需回父表確認參照是否合法，帶來額外開銷。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父表的主鍵索引若設計良好，這項檢查的成本通常可接受。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極高寫入量的系統，有時會刻意在應用層維護完整性以換取吞吐。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本課程資料量規模下，資料安全遠比這點效能重要，一律啟用外部鍵。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效能與安全的取捨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啟用外部鍵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參照完整性有保障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髒資料無法產生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每次寫入多一次檢查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教學與中小專案首選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應用層維護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寫入吞吐較高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完整性靠程式把關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程式一有漏洞即破功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超大流量才考慮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區塊四：Cart 與 Orders 級聯約束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46243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Cart 資料表：以雙外部鍵同時指向使用者與商品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P.16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ddl/cart.sql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cart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CASCADE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CASCADE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UNIQUE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uq_user_product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雙外部鍵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同時參照 users 與 products。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CASCADE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帳號或商品消失，暫存自動清除。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UNIQUE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同一人同一商品只保留一列。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quantity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再次加入時改以更新數量處理。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區塊四：Cart 與 Orders 級聯約束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67883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為 Cart 加上 CASCADE：帳號一刪，購物車不留殘影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購物車是暫存性資料，使用者不存在後便失去任何意義。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CASCADE 讓刪除帳號時自動清空其購物車，無需程式額外處理。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少了這道約束，被刪帳號的購物車就會變成永久的孤兒資料。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暫存性資料採 CASCADE，是最典型且安全的用法。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購物車的級聯清除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刪除 users 中的某帳號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cart 中該 user_id 的列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因 CASCADE 自動刪除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無殘留、無孤兒資料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區塊四：Cart 與 Orders 級聯約束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389523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Orders 訂單主表：status 只記錄履約進度，不記錄付款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ddl/orders.sql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0.00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status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'shipped'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'completed'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'cancelled'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'awaiting_shipment'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created_at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CURRENT_TIMESTAMP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RESTRICT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設計理由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6876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RESTRICT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有訂單的使用者不得被直接刪除。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010204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010204"/>
            <a:ext cx="45720" cy="6876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119932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status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只表示履約進度，不表示付款。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3825849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3825849"/>
            <a:ext cx="45720" cy="6876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3935577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付款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收到錢與否記在 Payments.status。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4641494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4641494"/>
            <a:ext cx="45720" cy="6876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4751222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total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DECIMAL(12,2) 存放訂單總額。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1741" y="5457139"/>
            <a:ext cx="3604153" cy="6876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1741" y="5457139"/>
            <a:ext cx="45720" cy="6876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4621" y="5566867"/>
            <a:ext cx="3238393" cy="468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財務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訂單屬歷史帳目，絕不隨帳號連坐刪除。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區塊四：Cart 與 Orders 級聯約束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11163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Order_Items 明細表：一次建立兩條外部鍵關聯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P.19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ddl/order_items.sql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AUTO_INCREMENT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PRIMARY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允許 NULL：商品下架後保留明細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unit_price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DECIMAL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</a:t>
            </a: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下單當下的快照價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NOT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CASCADE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FOREIGN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KEY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REFERENCES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ENGINE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DEFAULT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CHARSET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utf8mb4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兩鍵不同策略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order_id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CASCADE：訂單刪除，明細一併清除。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product_id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SET NULL：商品下架仍保留明細。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unit_price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存快照價，日後改價不影響舊帳。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原則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財務明細以「保留歷史」為最高原則。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區塊四：Cart 與 Orders 級聯約束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32803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邊界思考：商品下架時，明細該 CASCADE 還是 SET NULL？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若用 CASCADE，商品一下架，所有含該商品的歷史明細會被抹除。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這會直接破壞已完成的財務帳目與報表，屬嚴重錯誤。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正解：SET NULL 或 RESTRICT，並以 unit_price 快照保住金額。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會計原則：歷史交易一旦成立，就不應因主檔異動而改變。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下架策略對比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359152"/>
            <a:ext cx="2410815" cy="420624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CASCADE（錯）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商品下架即刪明細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破壞歷史帳目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報表金額對不起來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違反會計原則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079" y="2359152"/>
            <a:ext cx="2410815" cy="3767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5079" y="2359152"/>
            <a:ext cx="2410815" cy="420624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SET NULL（對）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9671" y="2926080"/>
            <a:ext cx="2081631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明細完整保留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金額靠快照留存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帳目可長期稽核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25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符合財務要求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區塊五：多表 INNER JOIN 攻堅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54443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JOIN 的效能隱患：關聯查詢一定要配 LIMIT 與 OFFSET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數萬筆商品與分類表 JOIN，若一次全撈，緩衝區瞬間被吃光。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行動端一個畫面根本顯示不了上千筆，全撈是純粹的浪費。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 LIMIT / OFFSET 當作關聯查詢的標準配備，而非事後補救。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設計查詢的第一秒就該問：這次到底需要哪幾筆？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未分頁的連鎖惡化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JOIN 產生大量中間結果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未分頁 → 一次全載入記憶體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Buffer Pool 被占滿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改回讀磁碟，效能崩落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區塊五：多表 INNER JOIN 攻堅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76084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黑板推導：OFFSET =（頁碼 − 1）× 每頁筆數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分頁的兩個參數：limit 是每頁筆數，offset 是要跳過的筆數。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公式：OFFSET =（page − 1）× limit。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limit=20 時，第 1 頁 offset=0，第 2 頁 offset=20。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前端只需傳頁碼，offset 由後端依此公式換算。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分頁公式代入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1361347"/>
                <a:gridCol w="149748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頁碼 page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limit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OFFSET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100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區塊五：多表 INNER JOIN 攻堅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497724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物理分頁查詢：JOIN 分類名稱並取出第一頁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dml/products_paged.sql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OFFSET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別名 p、c 讓多表欄位來源一目了然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ORDER BY 搭配索引，才不會為了排序掃全表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語意拆解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p / c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表別名，縮短並釐清欄位來源。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指定兩表以哪一組鍵配對。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ORDER BY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分頁前必須有穩定排序。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LIMIT/OFFSET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只取本頁所需的 20 筆。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區塊五：多表 INNER JOIN 攻堅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19364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LIMIT 與 OFFSET 的實體代價：跳過也是要走過的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LIMIT 限制回傳列數，直接決定 JSON 大小與網路傳輸量。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OFFSET 並非直接跳到目標，資料庫仍需逐列掃過再丟棄。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頁數越深，OFFSET 掃過並丟棄的列越多，查詢越慢。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深分頁的優化：改用「上一頁最後一筆的 id」做游標查詢。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75704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掃描並丟棄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OFFSET 100 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96731" y="436168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1867" y="405079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逐列走過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1987" y="3767328"/>
            <a:ext cx="1766163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回傳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LIMIT 20 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區塊五：多表 INNER JOIN 攻堅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41004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課堂小考：第 6 頁的 OFFSET 該填多少？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已知每頁 20 筆，求第 6 頁的 OFFSET 值。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代入公式：OFFSET =（6 − 1）× 20。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答案：OFFSET = 100。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延伸練習：若改為每頁 15 筆，第 6 頁的 OFFSET 又是多少？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5000"/>
            </a:avLst>
          </a:prstGeom>
          <a:solidFill>
            <a:srgbClr val="F3F3FA"/>
          </a:solidFill>
          <a:ln w="15875">
            <a:solidFill>
              <a:srgbClr val="777B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57416" y="1938528"/>
            <a:ext cx="4529023" cy="4023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解題步驟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套用 OFFSET =（page − 1）× limit。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（6 − 1）× 20 = 5 × 20 = 100。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驗算：第 6 頁顯示第 101 ~ 120 筆，正確。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· </a:t>
            </a:r>
            <a:r>
              <a:rPr sz="13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延伸：每頁 15 筆時為 5 × 15 = 75。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區塊六：LEFT JOIN 與外連接互補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62644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LEFT JOIN：左表全都留下，右表沒配對就補 NULL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LEFT JOIN 保證左表每一列都出現在結果中。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右表若無對應資料，該列的右表欄位一律以 NULL 填補。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INNER JOIN 則相反：只留下兩表都有配對的列。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選擇原則：左表的資料「即使沒有右表也必須顯示」時，用 LEFT JOIN。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LEFT JOIN 的保留規則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左表 products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全部保留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930487" y="3418332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75704" y="3651504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LEFT JOIN reviews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有評價則帶入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8930487" y="4710684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75704" y="4943856"/>
            <a:ext cx="4492447" cy="1018031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無配對時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評價欄位為 NULL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區塊六：LEFT JOIN 與外連接互補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584285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商務場景：剛上架、還沒評價的商品也要出現在列表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P.27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dml/products_with_rating.sql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AVG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avg_rating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review_count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reviews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沒有評價的新商品：avg_rating = NULL、review_count = 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若用 INNER JOIN，這些新品會整列消失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重點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LEFT JOIN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確保新商品不被排除。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AVG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無評價時回傳 NULL。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COUNT(r.id)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只算非 NULL，新品得 0。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陷阱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換成 INNER JOIN 新品就不見了。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區塊六：LEFT JOIN 與外連接互補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05925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INNER 與 LEFT 並排看：同一組資料，兩種結果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假設有 3 件商品，其中 1 件尚無任何評價。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INNER JOIN 只回傳有評價的 2 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LEFT JOIN 回傳全部 3 件，新品評價欄為 NULL。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差別不在語法難易，而在「你要不要保留沒配對的那一方」。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輸出結果比對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7062"/>
                <a:gridCol w="1372692"/>
                <a:gridCol w="137269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商品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INNER JOIN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LEFT JOIN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耳機（有評價）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鍵盤（有評價）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新品（無評價）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消失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顯示 NULL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區塊六：LEFT JOIN 與外連接互補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27565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IS NULL 找孤兒：從未被購買的商品、從未下單的會員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P.29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dml/find_orphans.sql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找出「從未被賣出」的孤兒商品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找出「從未下過單」的非活躍會員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技巧解析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LEFT JOIN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先把左表全部保留。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IS NULL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右表為空即代表「沒有配對」。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用途一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找滯銷商品，供行銷決策。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用途二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找沉睡會員，供再行銷。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區塊六：LEFT JOIN 與外連接互補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49205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文氏圖理解 JOIN：兩個集合，取哪一塊由你決定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把左表與右表想成兩個部分重疊的圓。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INNER JOIN 取中央重疊區——兩邊都有配對。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LEFT JOIN 取左圓全部——含中央，加上左側未配對區。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LEFT JOIN + IS NULL 則專取「左側未配對」的月牙區。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JOIN 與集合範圍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021"/>
                <a:gridCol w="2450425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查詢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取得的集合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INNER JOIN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兩表交集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LEFT JOIN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左表全部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LEFT + IS NULL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僅左表獨有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RIGHT JOIN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右表全部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區塊七：聚合函數與資料分組統計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70845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五大聚合函數：把多列資料濃縮成一個數字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行動端常需顯示「共幾筆、總額、平均分」這類統計數字。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COUNT 計數、SUM 加總、AVG 平均、MAX/MIN 取極值。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聚合在資料庫端完成，回傳的只是一個數字，網路負擔極小。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切記：聚合函數多半忽略 NULL，計數時要留意這點。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五大聚合函數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2858829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函數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COUNT()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計算筆數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SUM()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數值加總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AVG()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計算平均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MAX()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取最大值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MIN()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取最小值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區塊七：聚合函數與資料分組統計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692486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GROUP BY：先分組，再對每一組各自統計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P.32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dml/count_by_category.sql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每個分類各有多少件商品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product_count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LEFT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product_count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分組邏輯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GROUP BY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把資料依分類切成數組。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COUNT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對每一組各自計數。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LEFT JOIN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讓沒有商品的分類也顯示 0。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SELECT 欄位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非聚合欄位須出現在 GROUP BY。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區塊七：聚合函數與資料分組統計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14126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商務實作：算出某張訂單的總金額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dml/order_total.sql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訂單 5 的總金額 = 各明細（單價 × 數量）之和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unit_price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order_total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以快照的 unit_price 計算，不受日後改價影響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計算要點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表達式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SUM 內可直接做乘法運算。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unit_price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用明細快照價，帳目才穩定。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WHERE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先篩出該訂單再聚合最有效率。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對帳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此值應與 orders.total 相符。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區塊七：聚合函數與資料分組統計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35766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分組後的過濾用 HAVING：WHERE 管不到聚合結果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WHERE 在分組「之前」過濾原始列，此時聚合值還不存在。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要對 SUM、COUNT 這類聚合結果過濾，必須改用 HAVING。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執行順序：WHERE → GROUP BY → HAVING → ORDER BY。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記法：WHERE 篩「列」，HAVING 篩「組」。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子句執行順序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617"/>
                <a:gridCol w="1497482"/>
                <a:gridCol w="1361347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子句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作用時機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可用聚合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WHERE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分組前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否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GROUP BY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分組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—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HAVING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分組後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ORDER BY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排序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是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區塊七：聚合函數與資料分組統計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57406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實作：找出總銷售額破十萬的黃金商品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P.35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dml/golden_products.sql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</a:t>
            </a:r>
            <a:r>
              <a:rPr sz="1400" b="0" i="0">
                <a:solidFill>
                  <a:srgbClr val="C5C8F0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unit_price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revenue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INNER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oi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GROUP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HAVING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revenue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100000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revenue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  <a:r>
              <a:rPr sz="140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查詢拆解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INNER JOIN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只算真正賣出的商品。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SUM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各商品的總銷售額。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HAVING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篩出銷售額破十萬者。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ORDER BY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由高到低排出黃金榜。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區塊八：交易安全與並發控制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779046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幽靈訂單的成因：訂單成立了，明細卻寫入失敗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一筆下單需寫入 orders 與多列 order_items，是多步驟操作。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若 orders 寫入成功、order_items 中途失敗，就產生沒有明細的幽靈訂單。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根本原因：多步驟寫入缺乏「全成功或全失敗」的保證。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解法就是交易（Transaction），下一頁展開它的四大特性。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無交易保護的後果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 orders 成功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 order_items 失敗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訂單存在、明細卻空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產生幽靈訂單、帳目錯亂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區塊八：交易安全與並發控制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006870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ACID 四大特性：交易之所以可信賴的原因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原子性（A）：交易內的操作全部成功，或全部撤銷。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一致性（C）：交易前後，資料都符合所有約束規則。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隔離性（I）：並行交易彼此不互相干擾。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持久性（D）：一旦 COMMIT，即使斷電也不遺失。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ACID 對照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886"/>
                <a:gridCol w="2586560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特性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保證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Atomicity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全成功或全撤銷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Consistency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始終符合約束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Isolation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並行互不干擾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Durability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COMMIT 後不遺失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區塊八：交易安全與並發控制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223272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TCL 三劍客：START TRANSACTION、COMMIT 與 ROLLBACK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P.38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dml/checkout_txn.sql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START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TRANSACTION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7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3770.00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@oid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LAST_INSERT_ID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INSERT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INTO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unit_price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quantity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VALUES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@oid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1290.00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@oid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2480.00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UPDATE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stock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2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COMMIT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全部成功才落盤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任一步失敗則 ROLLBACK，資料回到交易前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交易流程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START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開啟交易，後續操作暫不落盤。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@oid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接住訂單編號，供明細參照。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COMMIT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全部成功才一次性寫入。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ROLLBACK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任一步失敗即整筆撤銷。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區塊八：交易安全與並發控制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439674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動手驗證：故意製造錯誤，再用 ROLLBACK 還原乾淨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P.39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在 phpMyAdmin 開啟交易，先寫入一筆訂單。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接著故意執行一個會失敗的明細寫入（如違反外部鍵）。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執行 ROLLBACK 後回頭查詢，先前的訂單也一併消失。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親眼確認：交易撤銷後，資料庫毫無汙染殘留。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回滾驗證步驟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START TRANSACTION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寫入訂單（暫未落盤）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故意觸發一個錯誤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ROLLBACK → 全部還原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區塊八：交易安全與並發控制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656076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超賣現象：兩人同搶最後一件，鎖定是唯一解方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庫存剩 1 件時，兩筆請求同時讀到「還有 1 件」而都判定可買。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兩者各自扣減，庫存變成 -1，商品被超賣。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解法是在讀取庫存時加鎖（SELECT ... FOR UPDATE），讓後者等待。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鎖定的完整機制留待進階週次，本週先建立問題意識。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超賣的形成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庫存剩 1，兩請求同時抵達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兩者都讀到「還有 1 件」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各自扣減庫存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庫存變 -1，發生超賣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區塊九：外部鍵衝突與語法排查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8872478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錯誤一：a foreign key constraint fails，父資料還被參照著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P.41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訊息：Cannot delete or update a parent row。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意思是你想刪的父資料，仍被某張子表參照中。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這正是外部鍵在保護你，阻止你製造出孤兒資料。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它是「保護」而非「阻礙」，理解這點才能正確處理。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 1451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分類仍有商品參照，直接刪除會失敗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DELETE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WHERE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ERROR 1451: a foreign key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  constraint fails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區塊九：外部鍵衝突與語法排查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08887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正確處理參照衝突：先安置子資料，再動父資料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P.42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方法一：先把子資料改掛到其他父項，或先行刪除子資料。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方法二：若商務允許，於外部鍵設定合適的 ON DELETE 行為。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切勿為了刪一筆資料就關閉整個外部鍵檢查。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順序原則：永遠由子而父，先處理參照方，再處理被參照方。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化解衝突的順序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查出哪些子資料仍在參照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改掛他項或先刪子資料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確認已無任何參照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才能安全刪除父資料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區塊九：外部鍵衝突與語法排查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30528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錯誤二：Ambiguous column，多表同名欄位必須指名道姓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P.43 /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55648"/>
            <a:ext cx="6850181" cy="438912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755648"/>
            <a:ext cx="6850181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89280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89280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9304" y="189280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1837943"/>
            <a:ext cx="419842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錯誤 1052 與修正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2357" y="1819656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2357" y="1856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267712"/>
            <a:ext cx="310896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6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7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8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9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267712"/>
            <a:ext cx="6045509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錯誤：兩張表都有 id，資料庫不知道你要哪個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ERROR 1052: Column 'id' in field list is ambiguous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正確：以表別名明確指定來源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category_name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products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categories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category_id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1741" y="1755648"/>
            <a:ext cx="360415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排查要點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1741" y="2194560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1741" y="2194560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4621" y="2304288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成因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多表有同名欄位而未指定來源。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1741" y="3214116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01741" y="3214116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84621" y="3323844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解法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一律以 表別名.欄位 書寫。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1741" y="4233672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1741" y="4233672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4621" y="4343400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習慣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多表查詢時每個欄位都加前綴。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1741" y="5253228"/>
            <a:ext cx="3604153" cy="8915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01741" y="5253228"/>
            <a:ext cx="45720" cy="89154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4621" y="5362956"/>
            <a:ext cx="3238393" cy="672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77BB4"/>
                </a:solidFill>
                <a:latin typeface="Consolas"/>
                <a:ea typeface="Consolas"/>
                <a:cs typeface="Consolas"/>
              </a:rPr>
              <a:t>附帶  </a:t>
            </a: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同名欄位輸出時以 AS 取別名。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區塊九：外部鍵衝突與語法排查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52168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FOREIGN_KEY_CHECKS = 0：威力強大，也極度危險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P.44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關閉檢查可暫時繞過外部鍵，常用於批次匯入或清空資料。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代價是這段期間資料庫完全不保護參照完整性。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59E0B"/>
                </a:solidFill>
                <a:latin typeface="Noto Sans TC"/>
                <a:ea typeface="Noto Sans TC"/>
                <a:cs typeface="Noto Sans TC"/>
              </a:rPr>
              <a:t>【⚡ 效能警告】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忘記重新開啟，之後所有髒資料都能長驅直入。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務必成對使用，且僅限維護作業，絕不出現在正式 API 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944368"/>
            <a:ext cx="4967935" cy="32004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94436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3081527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3081527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3081527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302666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務必成對使用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300837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304495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456432"/>
            <a:ext cx="31089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456432"/>
            <a:ext cx="416326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FOREIGN_KEY_CHECKS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TRUNCATE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order_items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TRUNCATE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TABLE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FOREIGN_KEY_CHECKS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5C07B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-- 務必記得還原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區塊九：外部鍵衝突與語法排查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738085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用「設計師」拉出全圖：十張表的外部鍵一眼盡收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P.45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phpMyAdmin 的「設計師」可自動繪出所有表與外部鍵連線。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可直觀檢查是否有該連而未連、或連錯目標的關係。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這張圖等於把你的 ERD 與實際資料庫結構做一次對照。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設計完成後，用它做最後一次全局檢查，勝過逐表翻閱。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24528"/>
            <a:ext cx="10820095" cy="1920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24528"/>
            <a:ext cx="54864" cy="1920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40740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外部鍵全局連線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Users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會員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79233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24369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1:N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4489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訂單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540178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5314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1:N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5434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明細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01124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6260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N:1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6380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Products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商品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062069" y="5257800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7205" y="494690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N:1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7325" y="4828032"/>
            <a:ext cx="1300825" cy="1042416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Categories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分類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區塊十：本週實驗指標與評量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9954487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實驗任務：寫出五張關聯表的完整 DDL 腳本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P.46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涵蓋 Cart、Orders、Order_Items、Payments 與 Reviews。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每一條表間關係都要以正確的 FOREIGN KEY 落實。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級聯行為需依資料性質選擇 CASCADE、SET NULL 或 RESTRICT。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腳本須能在乾淨的 shop_db 上，一次無紅字執行完成。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待建立的五張表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Cart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user / product 雙外鍵，CASCADE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75704" y="3300984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user 外鍵，RESTRICT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5704" y="4242816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Order_Items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order CASCADE、product SET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75704" y="5184648"/>
            <a:ext cx="4492447" cy="777239"/>
          </a:xfrm>
          <a:prstGeom prst="roundRect">
            <a:avLst>
              <a:gd name="adj" fmla="val 1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Payments / Reviews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各自關聯訂單與商品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區塊十：本週實驗指標與評量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170889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評量標準：無紅字執行，且級聯關係正確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P.47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第一關：整份腳本一次執行成功，沒有任何語法或約束錯誤。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第二關：外部鍵指向正確，級聯行為符合商務語意。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第三關：財務相關明細採保留策略，不會被連坐刪除。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三關全過，代表你的資料庫結構已達可上線的水準。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77BB4"/>
                </a:solidFill>
                <a:latin typeface="Noto Sans TC"/>
                <a:ea typeface="Noto Sans TC"/>
                <a:cs typeface="Noto Sans TC"/>
              </a:rPr>
              <a:t>評量配分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775704" y="2359152"/>
          <a:ext cx="449244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964"/>
                <a:gridCol w="1497482"/>
              </a:tblGrid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評量項目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配分</a:t>
                      </a:r>
                    </a:p>
                  </a:txBody>
                  <a:tcPr marL="91440" marR="91440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一次執行無紅字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外部鍵指向正確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級聯策略合理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0F172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型態與約束得當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475569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15%</a:t>
                      </a:r>
                    </a:p>
                  </a:txBody>
                  <a:tcPr marL="91440" marR="9144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區塊十：本週實驗指標與評量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387291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隨堂測驗：現場寫出雙表 JOIN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P.48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情境：列出每一筆訂單的下單者 Email 與訂單總額。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需 JOIN orders 與 users，並以 user_id 配對。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評分重點：JOIN 條件正確、欄位以別名指定來源。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進階要求：把從未下單的會員也一併列出（改用 LEFT JOIN）。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78608"/>
            <a:ext cx="4967935" cy="3566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78608"/>
            <a:ext cx="4967935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9128" y="2715768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0296" y="2715768"/>
            <a:ext cx="100584" cy="100584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2715768"/>
            <a:ext cx="100584" cy="100584"/>
          </a:xfrm>
          <a:prstGeom prst="ellipse">
            <a:avLst/>
          </a:prstGeom>
          <a:solidFill>
            <a:srgbClr val="A9A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60903"/>
            <a:ext cx="23161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參考解答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2271" y="2642615"/>
            <a:ext cx="1417320" cy="237744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A9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42271" y="267919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[MySQL]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3090672"/>
            <a:ext cx="31089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3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4</a:t>
            </a:r>
          </a:p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90672"/>
            <a:ext cx="416326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email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total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JOIN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users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ON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user_id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ORDER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1" i="0">
                <a:solidFill>
                  <a:srgbClr val="A9ADE3"/>
                </a:solidFill>
                <a:latin typeface="Consolas"/>
                <a:ea typeface="Consolas"/>
                <a:cs typeface="Consolas"/>
              </a:rPr>
              <a:t>BY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id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DESC</a:t>
            </a:r>
            <a:r>
              <a:rPr sz="1250" b="0" i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區塊十：本週實驗指標與評量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603693" cy="4114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本週小結：十張具意義的實體資料表已全數建置完畢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P.199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P.49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10820095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從正規化理論出發，一路走到外部鍵、JOIN、聚合與交易。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雲端的 MariaDB 已具備完整、正確且互相關聯的資料結構。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【🗄️ 資料庫操作】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資料層（Data Layer）至此正式完工，等待 API 前來取用。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三層架構只剩中間的 PHP 尚未接上——那是第 5 週的主戲。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前端 RN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W1~W2 完成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86530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1666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下週接上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1786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777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PHP API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EEEF8"/>
                </a:solidFill>
                <a:latin typeface="Noto Sans TC"/>
                <a:ea typeface="Noto Sans TC"/>
                <a:cs typeface="Noto Sans TC"/>
              </a:rPr>
              <a:t>W5 即將登場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554772" y="4956048"/>
            <a:ext cx="850392" cy="18288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9908" y="4645151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已就緒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60028" y="4361688"/>
            <a:ext cx="2808122" cy="1371600"/>
          </a:xfrm>
          <a:prstGeom prst="roundRect">
            <a:avLst>
              <a:gd name="adj" fmla="val 9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1DAFB"/>
                </a:solidFill>
                <a:latin typeface="Noto Sans TC"/>
                <a:ea typeface="Noto Sans TC"/>
                <a:cs typeface="Noto Sans TC"/>
              </a:rPr>
              <a:t>MariaDB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CBD5E1"/>
                </a:solidFill>
                <a:latin typeface="Noto Sans TC"/>
                <a:ea typeface="Noto Sans TC"/>
                <a:cs typeface="Noto Sans TC"/>
              </a:rPr>
              <a:t>W3~W4 完成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W4: 資料庫關聯性設計與 SQL 語法</a:t>
            </a:r>
            <a:r>
              <a:rPr sz="11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  ›  </a:t>
            </a:r>
            <a:r>
              <a:rPr sz="1100" b="0" i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區塊十：本週實驗指標與評量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66928"/>
            <a:ext cx="10820095" cy="4114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804671"/>
            <a:ext cx="68580" cy="566928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749808"/>
            <a:ext cx="10600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172A"/>
                </a:solidFill>
                <a:latin typeface="Noto Sans TC"/>
                <a:ea typeface="Noto Sans TC"/>
                <a:cs typeface="Noto Sans TC"/>
              </a:rPr>
              <a:t>下週預告：回到行動前端，實作 AsyncStorage 離線快取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236208"/>
            <a:ext cx="1082009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27648"/>
            <a:ext cx="75740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4A3B8"/>
                </a:solidFill>
                <a:latin typeface="Noto Sans TC"/>
                <a:ea typeface="Noto Sans TC"/>
                <a:cs typeface="Noto Sans TC"/>
              </a:rPr>
              <a:t>行動資料庫應用</a:t>
            </a:r>
            <a:r>
              <a:rPr sz="1000" b="0" i="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　·　全域 P.200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9866" y="6327648"/>
            <a:ext cx="32460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P.50 /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55648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視角切回 React Native，處理手機本機端的資料暫存。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認識 AsyncStorage：行動端的鍵值型離線儲存機制。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【📱 行動端特點】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探討離線優先：斷網時先讀本機，連線後再與雲端對齊。</a:t>
            </a:r>
          </a:p>
          <a:p>
            <a:pPr>
              <a:lnSpc>
                <a:spcPct val="132000"/>
              </a:lnSpc>
              <a:spcBef>
                <a:spcPts val="600"/>
              </a:spcBef>
              <a:spcAft>
                <a:spcPts val="1000"/>
              </a:spcAft>
            </a:pPr>
            <a:r>
              <a:rPr sz="18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▎ </a:t>
            </a:r>
            <a:r>
              <a:rPr sz="180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為後續前後端正式串接，補上「離線也能用」的關鍵一塊。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755648"/>
            <a:ext cx="4967935" cy="4389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755648"/>
            <a:ext cx="54864" cy="4389120"/>
          </a:xfrm>
          <a:prstGeom prst="rect">
            <a:avLst/>
          </a:prstGeom>
          <a:solidFill>
            <a:srgbClr val="1E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1938528"/>
            <a:ext cx="44558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第 5 週重點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75704" y="2359152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359152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AsyncStorage 基本讀寫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940296" y="2976372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75704" y="3352800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3352800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本機快取的資料結構設計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940296" y="3970020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75704" y="4346448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4346448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離線優先的同步策略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940296" y="4963668"/>
            <a:ext cx="146304" cy="362711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75704" y="5340096"/>
            <a:ext cx="475488" cy="603504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7FA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4344" y="5340096"/>
            <a:ext cx="3943807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1A202C"/>
                </a:solidFill>
                <a:latin typeface="Noto Sans TC"/>
                <a:ea typeface="Noto Sans TC"/>
                <a:cs typeface="Noto Sans TC"/>
              </a:rPr>
              <a:t>與雲端資料的一致性處理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