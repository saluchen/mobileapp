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85455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69503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53551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37599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21647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05695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85455" y="1737360"/>
            <a:ext cx="3566160" cy="1828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18120" y="2103120"/>
            <a:ext cx="3703320" cy="2880360"/>
          </a:xfrm>
          <a:prstGeom prst="roundRect">
            <a:avLst>
              <a:gd name="adj" fmla="val 4000"/>
            </a:avLst>
          </a:prstGeom>
          <a:solidFill>
            <a:srgbClr val="1A202C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64524" y="2249424"/>
            <a:ext cx="493776" cy="786384"/>
          </a:xfrm>
          <a:prstGeom prst="roundRect">
            <a:avLst>
              <a:gd name="adj" fmla="val 18000"/>
            </a:avLst>
          </a:prstGeom>
          <a:noFill/>
          <a:ln w="20320">
            <a:solidFill>
              <a:srgbClr val="61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19972" y="2295144"/>
            <a:ext cx="182880" cy="27432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46820" y="2450592"/>
            <a:ext cx="274320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46820" y="2578608"/>
            <a:ext cx="201168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46820" y="2706624"/>
            <a:ext cx="237744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46820" y="2834640"/>
            <a:ext cx="329184" cy="109728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79508" y="2304288"/>
            <a:ext cx="1097280" cy="640080"/>
          </a:xfrm>
          <a:prstGeom prst="roundRect">
            <a:avLst>
              <a:gd name="adj" fmla="val 6000"/>
            </a:avLst>
          </a:prstGeom>
          <a:noFill/>
          <a:ln w="20320">
            <a:solidFill>
              <a:srgbClr val="61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70948" y="2432304"/>
            <a:ext cx="621792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70948" y="2560320"/>
            <a:ext cx="457200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70948" y="2688336"/>
            <a:ext cx="548640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70948" y="2798064"/>
            <a:ext cx="731520" cy="5486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88068" y="2944368"/>
            <a:ext cx="1280160" cy="91440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8492" y="30906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手機 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8068" y="309067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Notebook 筆電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0439" y="3255263"/>
            <a:ext cx="21945" cy="10972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317175" y="3255263"/>
            <a:ext cx="21945" cy="10972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00439" y="3364991"/>
            <a:ext cx="1338681" cy="2194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58807" y="3364991"/>
            <a:ext cx="21945" cy="256032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1220" y="341985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AJAX / JSON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8220" y="3621024"/>
            <a:ext cx="2103120" cy="4572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778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PHP  API  Layer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58807" y="4169663"/>
            <a:ext cx="21945" cy="20116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1220" y="4169663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PDO</a:t>
            </a:r>
          </a:p>
        </p:txBody>
      </p:sp>
      <p:sp>
        <p:nvSpPr>
          <p:cNvPr id="34" name="Magnetic Disk 33"/>
          <p:cNvSpPr/>
          <p:nvPr/>
        </p:nvSpPr>
        <p:spPr>
          <a:xfrm>
            <a:off x="8892540" y="4407408"/>
            <a:ext cx="1554479" cy="475488"/>
          </a:xfrm>
          <a:prstGeom prst="flowChartMagneticDisk">
            <a:avLst/>
          </a:prstGeom>
          <a:noFill/>
          <a:ln w="19050">
            <a:solidFill>
              <a:srgbClr val="61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1DAFB"/>
                </a:solidFill>
                <a:latin typeface="Consolas"/>
                <a:ea typeface="Consolas"/>
                <a:cs typeface="Consolas"/>
              </a:rPr>
              <a:t>MariaDB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1874519"/>
            <a:ext cx="859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1DAFB"/>
                </a:solidFill>
                <a:latin typeface="Consolas"/>
                <a:ea typeface="Consolas"/>
                <a:cs typeface="Consolas"/>
              </a:rPr>
              <a:t>WEEK 18  /  50 SLIDES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2377440"/>
            <a:ext cx="9692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</a:pPr>
            <a:r>
              <a:rPr sz="2400" b="1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第 18 週：期末專案成果發表與技術答辯大會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1560" y="4315968"/>
            <a:ext cx="1371600" cy="45720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457200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核心命題：Live Demo 見真章，18 週淬鍊一次綻放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175504"/>
            <a:ext cx="96926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Designed by : </a:t>
            </a:r>
            <a:r>
              <a:rPr sz="1400" b="1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Salu Chen &amp; Claude 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562356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資訊技術整合　|　全域第 851 ~ 900 頁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技術主軸：Live Demo · 三端大三通 · 答辯 · 頒獎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區塊一：發表大會開幕與展示哲學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32803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榮耀終章：期末成果發表與答辯大會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P.02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18 週的積累，在今天迎來榮耀的終章。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各組上台，展示自己親手打造的完整系統。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這不只是報告，而是成果的真實檢驗。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讓每一行程式碼、每一個熬夜，都在此刻發光。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發表大會流程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實機演示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8 分鐘 Live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技術答辯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4 分鐘問答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專家評審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外部委員評分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區塊一：發表大會開幕與展示哲學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49205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業界精神：Live Demo 佔 90% 評分核心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P.03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業界發表拋棄冗長的投影片文字複述。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以實機操作動態系統（Live Demo）為核心。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Live Demo 佔了 90% 的評分權重。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能跑、跑得穩、跑得漂亮，才是硬道理。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發表的兩種姿態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960" y="2359152"/>
            <a:ext cx="2410815" cy="420624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紙上談兵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2926080"/>
            <a:ext cx="2081631" cy="3127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念投影片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貼程式碼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說很厲害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無法驗證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079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5079" y="2359152"/>
            <a:ext cx="2410815" cy="420624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9671" y="2926080"/>
            <a:ext cx="2081631" cy="3127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實機操作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當場運行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眼見為憑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90% 權重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區塊一：發表大會開幕與展示哲學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65607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時間藝術：8 分鐘演示、4 分鐘答辯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P.04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每組精準限制 8 分鐘演示。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接著 4 分鐘的技術答辯。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考驗團隊在有限時間內的專業表達。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說重點、演核心，是專業簡報的功力。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時間分配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021"/>
                <a:gridCol w="2450425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環節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時間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實機演示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8 分鐘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技術答辯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 分鐘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合計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 分鐘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原則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精準扼要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區塊一：發表大會開幕與展示哲學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82009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評分權重：功能、架構、Demo 三大維度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P.05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功能完整性佔 40%：核心功能是否齊全可用。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架構安全與效能佔 30%：防禦與優化是否到位。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團隊現場 Demo 表現佔 30%：演示與答辯。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外部專家評審團依此填寫評分表，公正評比。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期末評分權重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6560"/>
                <a:gridCol w="1905886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評分維度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權重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功能完整性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40%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架構安全與效能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30%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現場 Demo 表現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30%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總計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100%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區塊二：用戶與商品模組三端聯動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298411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第一階段：啟動 PC 管理員總後台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各組依序上台，第一步啟動 PC 管理員後台。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admin.html 是整個系統的營運中樞。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從這裡展開三端聯動的展示。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管理員的操作，將牽動另外兩端的畫面。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admin.html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管理後台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7970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3106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操作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3226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雲端 API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處理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505492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50628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寫入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0748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MariaDB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落盤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區塊二：用戶與商品模組三端聯動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514813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現場上架：稀有新品，價格 777 元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P.07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管理員在網頁表單填入一個自訂的稀有新品。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價格設為 777 元，點擊上架。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透過雲端 API，資料寫入 MariaDB 的 products 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這一個動作，即將在三端引發連鎖反應。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上架操作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2359152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填入新品資料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940296" y="2976372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75704" y="3352800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4" y="3352800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價格 777 元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940296" y="3970020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75704" y="4346448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4344" y="4346448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點擊上架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6940296" y="4963668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75704" y="5340096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4344" y="5340096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寫入雲端 MariaDB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區塊二：用戶與商品模組三端聯動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731215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震撼目擊：顧客前台與手機 3 秒內同步彈出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P.08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10820095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台下的 PC 顧客商城，3 秒內自動彈出該新品。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教師手上的手機 App，也同步冒出這件商品。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全程無人手動重整，靠的是短輪詢。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這是三端即時同步最直接的震撼證明。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24528"/>
            <a:ext cx="10820095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4224528"/>
            <a:ext cx="54864" cy="1920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4407408"/>
            <a:ext cx="10308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三端同步上新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管理員上架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777 元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86530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1666" y="4946904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寫入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1786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MariaDB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落盤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54772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9908" y="4946904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輪詢彈出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60028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前台 + 手機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3 秒同步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區塊二：用戶與商品模組三端聯動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947617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向評審證明：分類與商品透過雲端精準咬合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P.09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向評審證明全站商品分類與商品主表的關聯。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完全透過雲端公網域名與 MariaDB 精準咬合。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外部鍵讓每件商品都正確歸屬於它的分類。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資料的正確性，是系統可信的根基。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Categories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分類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6731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1867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外部鍵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Products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商品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區塊二：用戶與商品模組三端聯動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216401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評審提問：如何防範空白與負數價格？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P.10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評審現場提問：前端表單如何防範空白與非法負數？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學生切換到程式碼，展示前後端雙重驗證。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前端即時擋、後端 filter_var 再驗一次。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能當場呼應程式碼，才顯真功夫。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5000"/>
            </a:avLst>
          </a:prstGeom>
          <a:solidFill>
            <a:srgbClr val="F3F3FA"/>
          </a:solidFill>
          <a:ln w="15875">
            <a:solidFill>
              <a:srgbClr val="777B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1938528"/>
            <a:ext cx="4529023" cy="4023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答辯要點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前端：即時驗證與置灰按鈕。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後端：empty 與 filter_var 卡關。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價格：必須為正數。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永遠不信前端資料。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區塊三：購物車與訂單支付落盤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2380420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第二階段：手機流暢操作加入購物車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P.11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學生在手機 App 介面流暢操作。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將多樣商品加入購物車，操作 Cart 表。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每次加入都即時寫入雲端資料庫。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展示前端體驗與後端寫入的緊密配合。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加入購物車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2359152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瀏覽商品列表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940296" y="2976372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75704" y="3352800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4" y="3352800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點選加入購物車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940296" y="3970020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75704" y="4346448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4344" y="4346448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寫入 Cart 表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6940296" y="4963668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75704" y="5340096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4344" y="5340096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購物車數量更新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區塊三：購物車與訂單支付落盤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2596822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動態加總：購物車金額即時計算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P.12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切換至購物車畫面，展示動態金額加總。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商品數量一改，總額立即重算。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顯示金額由前端算，但結帳以後端為準。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接著現場點擊「確認付款結帳」。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購物車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多項商品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6731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1867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加總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結帳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Orders + Items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區塊三：購物車與訂單支付落盤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2813224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背景觸發：庫存防超賣悲觀鎖定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P.13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結帳時，系統在背景透過 AJAX 呼叫雲端 PHP。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觸發第 17 週的庫存防超賣悲觀鎖定。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以 FOR UPDATE 鎖住庫存列，杜絕超賣。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看不見的鎖定，正默默守護著每一筆交易。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761488"/>
            <a:ext cx="4967935" cy="3383279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2761488"/>
            <a:ext cx="4967935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9128" y="2898648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40296" y="2898648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41464" y="2898648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2843784"/>
            <a:ext cx="23161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結帳鎖定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2271" y="282549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42271" y="286207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[MySQL]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2552" y="3273552"/>
            <a:ext cx="310896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273552"/>
            <a:ext cx="4163263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stock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products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id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?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UPDATE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-- 鎖定庫存，防止超賣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區塊三：購物車與訂單支付落盤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029626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訂單無刷新排列：管理後台即時呈現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P.14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10820095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結帳成功後自動串接 Payments 資料表寫入。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引導評審轉看 PC 管理後台的訂單與支付流水。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剛出爐的訂單編號與已付款狀態，無刷新排列呈現。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從手機下單到後台顯示，全程即時貫通。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24528"/>
            <a:ext cx="10820095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4224528"/>
            <a:ext cx="54864" cy="1920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4407408"/>
            <a:ext cx="10308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訂單即時呈現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手機結帳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付款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86530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1666" y="4946904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寫入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1786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Orders/Payments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落盤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54772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9908" y="4946904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輪詢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60028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管理後台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訂單即時排列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區塊三：購物車與訂單支付落盤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246028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查閱資料庫：外部鍵級聯一分不差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P.15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評審團查閱 MariaDB 實體後台。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確認主表與明細表的外部鍵級聯關係。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訂單、明細、商品的關聯一分不差。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資料庫層的嚴謹，是系統可信的最後保證。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Orders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主表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7970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3106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FK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3226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Order_Items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明細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505492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50628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FK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0748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Products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商品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區塊四：短輪詢即時客服大對決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462430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最精采高潮：跨平台即時客服演練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發表最精采的高潮戲碼登場。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跨平台即時通訊演練，操作 Chat_Rooms 與 Messages。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這是整門課程技術的集大成。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三端即時對話，最能震撼全場。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即時客服演練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 App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顧客端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PC 管理後台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客服中心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即時同步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2 秒必達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區塊四：短輪詢即時客服大對決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678832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手機發問：期末考會不會當人？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P.17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學生操作手機 App 的客服視窗。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現場輸入「請問期末考會不會當人？」並傳送。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訊息以 AJAX POST 寫入雲端 Messages 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接下來，見證即時的魔法。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手機輸入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傳送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6731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1867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POST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Messages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落盤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區塊四：短輪詢即時客服大對決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895234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全場見證：大螢幕 2 秒內自動跳出客訴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P.18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10820095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台上大螢幕的管理員客服中心……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2 秒內「啪」的一聲自動跳出該行客訴文字。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畫面上完全沒有點擊任何重整鈕。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短輪詢的威力，在此刻具象化為全場的驚呼。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24528"/>
            <a:ext cx="10820095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4224528"/>
            <a:ext cx="54864" cy="1920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4407408"/>
            <a:ext cx="10308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即時彈出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手機發問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已落盤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86530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1666" y="4946904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寫入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1786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管理員輪詢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每 2 秒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54772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9908" y="4946904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抓取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60028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大螢幕彈出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自動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區塊四：短輪詢即時客服大對決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111636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管理員回覆：手機 2 秒收到並自動捲底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P.19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管理員在 PC 網頁回覆訊息。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手機 App 也在 2 秒內自動跳出回覆氣泡。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並自動捲動到底部，停在最新一句。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雙向即時，體驗媲美商業聊天軟體。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雙向回覆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2359152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管理員回覆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940296" y="2976372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75704" y="3352800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4" y="3352800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寫入 Messages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940296" y="3970020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75704" y="4346448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4344" y="4346448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手機輪詢抓到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6940296" y="4963668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75704" y="5340096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4344" y="5340096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彈出並自動捲底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區塊四：短輪詢即時客服大對決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328038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向評審展示：HTTP 單向下的即時極限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P.20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向專家評審徹底展示這套即時通訊的原理。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在 HTTP 單向協議的先天限制下……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靠計時器短輪詢與記憶體清除優化。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逼出了商務級即時通訊的極限。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5000"/>
            </a:avLst>
          </a:prstGeom>
          <a:solidFill>
            <a:srgbClr val="F3F3FA"/>
          </a:solidFill>
          <a:ln w="15875">
            <a:solidFill>
              <a:srgbClr val="777B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1938528"/>
            <a:ext cx="4529023" cy="4023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技術亮點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短輪詢突破 HTTP 單向限制。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計時器清除防記憶體洩漏。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三端同步 2 秒必達。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自動捲動媲美商業軟體。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區塊五：商品評價局部無刷新渲染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544439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第四階段：商品評價流系統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P.21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展示商品詳情底部的 Reviews 評價流系統。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顧客可為商品打分、留言。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評價落盤於 MariaDB 的 reviews 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展示局部無刷新更新的細膩體驗。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評價流系統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打分留言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評價表單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局部刷新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即時吐出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落盤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reviews 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區塊五：商品評價局部無刷新渲染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760841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現場送出：畫面下方立刻吐出新評論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P.22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學生現場在手機打字送出評價。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畫面下方列表立刻動態吐出新評論。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不跳頁、不重載，只在原地疊上。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這是第 11 週局部刷新的實戰展現。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局部刷新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2359152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打字送出評價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940296" y="2976372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75704" y="3352800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4" y="3352800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POST 寫入 reviews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940296" y="3970020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75704" y="4346448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4344" y="4346448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背景重抓列表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6940296" y="4963668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75704" y="5340096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4344" y="5340096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新評論即時疊上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區塊五：商品評價局部無刷新渲染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97724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跨端一致：PC 網頁重整也同步呈現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P.23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在 PC 顧客商城網頁重整。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剛才手機送的評論，也一併同步呈現。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證明全站評論完全落盤於 MariaDB 中央核心。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同一份資料，跨端一致——這正是雲端資料庫的價值。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手機評價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落盤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7970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3106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3226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MariaDB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中央真相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505492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50628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0748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PC 網頁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同步呈現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區塊五：商品評價局部無刷新渲染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519364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並發檢索：B-Tree 索引維持高效能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P.24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對同一商品快速刷入十條評論。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資料庫依然高效地檢索與回傳。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靠的是第 15 週在 product_id 建立的索引。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高並發下的效能，是優化真正落地的證明。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快速刷評論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高並發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6731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1867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索引命中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B-Tree 索引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高效檢索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區塊五：商品評價局部無刷新渲染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5410047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評審點評：評價橋樑表的設計合理性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P.25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評審針對評價相關的資料表設計進行點評。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檢視 reviews 與 products、users 的關聯是否合理。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外部鍵是否正確、正規化是否到位。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設計的嚴謹，直接反映團隊的資料庫功力。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5000"/>
            </a:avLst>
          </a:prstGeom>
          <a:solidFill>
            <a:srgbClr val="F3F3FA"/>
          </a:solidFill>
          <a:ln w="15875">
            <a:solidFill>
              <a:srgbClr val="777B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1938528"/>
            <a:ext cx="4529023" cy="4023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設計評點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reviews 關聯 products 與 users。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評分以 CHECK 約束 1~5。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無資料冗餘、符合 3NF。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高頻欄位已建索引。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區塊六：效能與安全性現場答辯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562644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評審發問：不帶 Token 攻擊購物車如何防？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評審發問：黑客不帶 Token 攻擊購物車 API 呢？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這是對系統安全防禦最直接的挑戰。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考驗第 14 週的認證攔截器是否牢靠。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學生要以程式碼與實測，正面回應。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無 Token 攻擊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惡意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6731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1867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挑戰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攔截器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如何防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區塊六：效能與安全性現場答辯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5842851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展示攔截器：require_auth() 的三道關卡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P.27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api.php · require_auth()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[PHP Backend]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8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9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10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17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function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require_auth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$pdo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$secret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$token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read_bearer_token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$payload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decode_token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$token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$secret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① 驗簽：HMAC 對不上或已過期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!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$payload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deny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401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"登入已過期或未登入"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② 黑名單：登出過的權杖，簽章對也擋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$q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$pdo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250" b="0" i="0">
                <a:solidFill>
                  <a:srgbClr val="C5C8F0"/>
                </a:solidFill>
                <a:latin typeface="Consolas"/>
                <a:ea typeface="Consolas"/>
                <a:cs typeface="Consolas"/>
              </a:rPr>
              <a:t>prepare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"SELECT 1 FROM Revoked_Tokens"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           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" WHERE token_hash = ?"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$q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250" b="0" i="0">
                <a:solidFill>
                  <a:srgbClr val="C5C8F0"/>
                </a:solidFill>
                <a:latin typeface="Consolas"/>
                <a:ea typeface="Consolas"/>
                <a:cs typeface="Consolas"/>
              </a:rPr>
              <a:t>execute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hash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'sha256'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$token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$q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fetch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deny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401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"此登入階段已登出"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③ 角色與狀態每次現查，停權立即生效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$user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fetch_user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$pdo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$payload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'uid'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$user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'status'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!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'active'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deny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403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"此帳號已被停用"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"ACCOUNT_SUSPENDED"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$user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三道關卡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① 驗簽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HMAC 重算比對，不查庫。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② 黑名單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Revoked_Tokens 擋已登出。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③ 現查身分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角色不寫進權杖，停權即時生效。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401 vs 403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沒登入回 401，權限不足回 403。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區塊六：效能與安全性現場答辯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05925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現場攻擊：Postman 偽造髒 Token，回 401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P.28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現場用 Postman 偽造一個髒 Token 發動攻擊。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後端無情回傳 401 Unauthorized 的慘紅狀態碼。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證明防禦牢不可破，非法憑證寸步難行。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當場實測，比任何口頭保證都有說服力。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攻擊實測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2359152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Postman 偽造 Token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940296" y="2976372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75704" y="3352800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4" y="3352800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攻擊購物車 API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940296" y="3970020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75704" y="4346448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4344" y="4346448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攔截器驗證失敗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6940296" y="4963668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75704" y="5340096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4344" y="5340096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回 401 拒絕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區塊六：效能與安全性現場答辯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27565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展示 EXPLAIN：核心查詢告別全表掃描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P.29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展示資料庫 EXPLAIN 執行計畫文件。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向評審證明核心高頻查詢皆已索引命中。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type 不再是 ALL，而是 ref 或 const。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徹底告別全表掃描，進入索引命中時代。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EXPLAIN 佐證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960" y="2359152"/>
            <a:ext cx="2410815" cy="420624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優化前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2926080"/>
            <a:ext cx="2081631" cy="3127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type: ALL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全表掃描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rows 上萬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079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5079" y="2359152"/>
            <a:ext cx="2410815" cy="420624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優化後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9671" y="2926080"/>
            <a:ext cx="2081631" cy="3127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type: ref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索引命中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rows 極少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快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區塊六：效能與安全性現場答辯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492057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壓力報告：1000 次並發的平均響應時間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P.30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展示 1000 次批次高並發壓力測試報告。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呈現系統的平均響應時間分佈。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59E0B"/>
                </a:solidFill>
                <a:latin typeface="Noto Sans TC"/>
                <a:ea typeface="Noto Sans TC"/>
                <a:cs typeface="Noto Sans TC"/>
              </a:rPr>
              <a:t>【⚡ 效能警告】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以量化數據，展示企業級的承壓潛能。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數字會說話，這是效能的客觀證明。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壓測報告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021"/>
                <a:gridCol w="2450425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壓測指標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結果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總請求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1000 次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併發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50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平均響應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穩定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失敗率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≈ 0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區塊七：Git 協作與 README 評審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708459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Commit 歷史：分工均衡、無幽靈隊員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P.31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展示團隊在 GitHub 上的 Commit 歷史樹狀圖。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證明分工均衡，每位成員都有實質貢獻。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沒有全程掛名卻不提交的「幽靈隊員」。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協作的痕跡，忠實記錄在版本歷史裡。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成員 A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前端提交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7970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3106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merge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3226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main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合併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505492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50628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merge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0748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成員 B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後端提交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區塊七：Git 協作與 README 評審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924860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評審查閱：各組的 README 文件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P.32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評審查閱各組提交的 README.md 開發文件。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它是專案的門面，也是可維護性的指標。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好的文件，讓專案能被任何人接手。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接下來以幾個焦點檢視文件品質。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README 評審焦點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還原步驟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資料庫 DDL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API 手冊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URL 映射矩陣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易讀性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清晰完整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區塊七：Git 協作與 README 評審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7141262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易讀性：一鍵還原十表的 DDL 腳本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P.33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文件是否清楚寫明在全新 Ubuntu 環境的還原步驟？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能否照著文件，一鍵還原十張資料表？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附上完整的 DDL 腳本與匯入指令。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可重現，是一份好文件的最高標準。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761488"/>
            <a:ext cx="4967935" cy="3383279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2761488"/>
            <a:ext cx="4967935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9128" y="2898648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40296" y="2898648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41464" y="2898648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2843784"/>
            <a:ext cx="23161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README 還原步驟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2271" y="282549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42271" y="286207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2552" y="3273552"/>
            <a:ext cx="310896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273552"/>
            <a:ext cx="4163263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還原資料庫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root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shop_db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db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schema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sql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區塊七：Git 協作與 README 評審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7357664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API 手冊：22 條端點的完整 URL 映射矩陣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P.34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5227167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54864" cy="438912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1938528"/>
            <a:ext cx="47151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前台 API（會員端）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23544" y="2359152"/>
          <a:ext cx="4751678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1177"/>
                <a:gridCol w="1690501"/>
              </a:tblGrid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端點（動詞 + 路徑）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存取權限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POST   /users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公開｜註冊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POST   /users?action=login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公開｜驗密碼後簽發權杖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POST   /users?action=logout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需登入｜寫入黑名單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    /users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需登入｜我的資料 + home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    /categories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公開｜分類清單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    /products?page=N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公開｜每頁 20 筆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    /products?id=N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公開｜單一商品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GET·POST·PUT·DELETE  /cart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需登入｜只能動自己的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POST   /orders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需登入｜下單（含扣庫存事務）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    /orders?order_id=N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需登入｜本人或後台角色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    /order-items?order_id=N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需登入｜同上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278727" y="1755648"/>
            <a:ext cx="5227167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8727" y="1755648"/>
            <a:ext cx="54864" cy="438912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4759" y="1938528"/>
            <a:ext cx="47151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後台 API（員工端）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16471" y="2359152"/>
          <a:ext cx="4751678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1177"/>
                <a:gridCol w="1690501"/>
              </a:tblGrid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端點（動詞 + 路徑）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存取權限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POST   /payments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需登入｜建立付款紀錄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    /reviews?product_id=N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公開｜商品評價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POST   /reviews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需登入｜撰寫評價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GET·POST·PUT  /chat-rooms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需登入｜PUT 限 manager/admin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GET·POST  /messages?room_id=N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需登入｜限該房成員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GET·POST·PUT·DELETE  /staff-categories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manager · admin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GET·POST·PUT·DELETE  /staff-products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manager · admin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    /staff-orders?scope=…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六個後台角色皆可讀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PUT    /staff-orders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依角色限制可轉場的狀態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PUT    /staff-payments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finance · manager · admin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GET·PUT  /staff-users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manager · admin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區塊七：Git 協作與 README 評審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7574066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讚賞：具開源精神的優秀團隊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P.35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讚賞文件書寫詳盡、具開源專案精神的團隊。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他們的文件，讓專案不只是作業，而是作品。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完整的文檔，是專業工程師的標誌。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程式碼會過時，好的文件卻能傳承。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5000"/>
            </a:avLst>
          </a:prstGeom>
          <a:solidFill>
            <a:srgbClr val="ECFDFF"/>
          </a:solidFill>
          <a:ln w="15875">
            <a:solidFill>
              <a:srgbClr val="1E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1938528"/>
            <a:ext cx="4529023" cy="4023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優秀文件特徵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環境需求與安裝步驟清楚。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資料庫可一鍵還原。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API 映射矩陣完整。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內外網切換說明齊全。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區塊八：頒獎典禮與成績排行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7790468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分數統計：評審完成所有評分加總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外部專家評審團現場完成所有分數的統計與加總。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依三大維度的權重，計算各組總分。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公正、透明的評分，是對努力的尊重。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接著揭曉眾所矚目的排行榜。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各評審評分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獨立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7970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3106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彙整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3226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加權統計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加總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505492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50628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計算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0748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最終排名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公佈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區塊八：頒獎典禮與成績排行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006870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公佈排行：期末大專案前三名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P.37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公佈最終獲得期末大專案的前三名優勝組別。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他們在功能、架構、Demo 三方面均表現卓越。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排名不是終點，而是努力被看見的證明。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掌聲，獻給每一個奮戰到最後的團隊。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優勝排行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3617"/>
                <a:gridCol w="2858829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名次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亮點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第一名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全維度卓越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第二名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架構嚴謹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第三名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體驗出色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榮譽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全員完賽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區塊八：頒獎典禮與成績排行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223272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最佳架構獎：事務控制與防超賣做到極致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P.38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頒發「最佳架構設計獎」。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表彰把 PDO 事務控制與悲觀鎖防超賣做到極致的組別。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他們的資料一致性防禦，堪稱教科書等級。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扎實的架構，是系統可靠的根本。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5000"/>
            </a:avLst>
          </a:prstGeom>
          <a:solidFill>
            <a:srgbClr val="F3F3FA"/>
          </a:solidFill>
          <a:ln w="15875">
            <a:solidFill>
              <a:srgbClr val="777B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1938528"/>
            <a:ext cx="4529023" cy="4023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得獎亮點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交易包覆所有多表寫入。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FOR UPDATE 徹底防超賣。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金額一律後端重算。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並發下資料零錯亂。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區塊八：頒獎典禮與成績排行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439674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最佳體驗獎：三端大三通媲美商業軟體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P.39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頒發「最佳即時交互體驗獎」。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表彰三端大三通 AJAX 客服流暢度媲美商業軟體的組別。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他們把短輪詢的體驗打磨到了極致。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細膩的體驗，是使用者留下來的理由。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5000"/>
            </a:avLst>
          </a:prstGeom>
          <a:solidFill>
            <a:srgbClr val="ECFDFF"/>
          </a:solidFill>
          <a:ln w="15875">
            <a:solidFill>
              <a:srgbClr val="1E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1938528"/>
            <a:ext cx="4529023" cy="4023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得獎亮點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三端 2 秒內即時同步。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自動捲動流暢自然。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氣泡 UI 精緻。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計時器管理零洩漏。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區塊八：頒獎典禮與成績排行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656076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得獎感言：18 週的心路歷程分享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P.40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邀請獲獎組別代表發表 1 分鐘得獎感言。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分享 18 週從卡關到突破的心路歷程。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那些熬夜除錯的夜晚，都化作此刻的榮光。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經驗的傳承，比獎項本身更珍貴。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感言主軸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回顧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從零到全端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感謝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隊友與師長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展望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未來的戰場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區塊九：課程總體回顧與蛻變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872478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蒙太奇回顧：18 週的精彩實作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P.41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10820095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教師帶領全班進行 18 週的蒙太奇式總回顧。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從第一週的懵懂，到今天的全端實力。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每一週都是一塊拼圖，如今拼成完整的系統。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回望來時路，方知走了多遠。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24528"/>
            <a:ext cx="10820095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4224528"/>
            <a:ext cx="54864" cy="1920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4407408"/>
            <a:ext cx="10308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18 週技術版圖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" y="4828032"/>
            <a:ext cx="1866061" cy="1042416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前端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React Native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844469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9605" y="4946904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725" y="4828032"/>
            <a:ext cx="1866061" cy="1042416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後端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PHP REST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670651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15787" y="4946904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75907" y="4828032"/>
            <a:ext cx="1866061" cy="1042416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資料庫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MariaDB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96833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41969" y="4946904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02089" y="4828032"/>
            <a:ext cx="1866061" cy="1042416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雲端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VPS 上線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區塊九：課程總體回顧與蛻變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088879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從菜鳥起步：連內網都卡關的第一週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P.42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回顧第一週，連內網連線都卡關的菜鳥時期。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一路攻克雙向綁定、MariaDB 建庫、PHP REST 路由。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每一個當時的難關，如今都成了基本功。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成長，就藏在一次次跨過的門檻裡。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前半段回顧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W1-5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環境與前端基礎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W6-9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PHP 與資料庫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W1 卡關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如今已駕輕就熟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區塊九：課程總體回顧與蛻變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305281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後半封頂：Fetch、輪詢、客服、Token、雲端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P.43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後半學期，一路封頂各項硬核技術。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非同步 Fetch、AJAX 定時輪詢、跨平台客服大三通。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Token 安全門神、雲端 Linux 正式部署。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每一項，都是業界實戰的真本事。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後半段封頂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3617"/>
                <a:gridCol w="2858829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週次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封頂技術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W10-11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Fetch 讀寫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W12-13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輪詢與客服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W14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Token 安全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W15-16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優化與雲端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區塊九：課程總體回顧與蛻變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521683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真刀真槍：能上就業市場的硬實力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P.44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這門課給的不是紙上談兵的理論。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而是能直接在就業市場與雲端戰場拼殺的硬實力。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從前端到後端、從資料庫到雲端部署。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你們已具備一名全端工程師的完整技能樹。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全端技能樹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前端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React Native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後端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PHP REST + 安全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維運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Linux VPS 部署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區塊九：課程總體回顧與蛻變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738085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期許：保持防禦性、高效能的代碼美學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P.45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期許每位同學在未來的畢業專案與職涯中……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繼續保持防禦性、高效能的優雅代碼美學。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永遠不信前端、永遠想著並發、永遠為維護者著想。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技術會迭代，但好的工程素養永不過時。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5000"/>
            </a:avLst>
          </a:prstGeom>
          <a:solidFill>
            <a:srgbClr val="ECFDFF"/>
          </a:solidFill>
          <a:ln w="15875">
            <a:solidFill>
              <a:srgbClr val="1E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1938528"/>
            <a:ext cx="4529023" cy="4023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帶走的工程素養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防禦性：永不信任外部輸入。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高效能：索引與快取意識。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可維護：分層與文件習慣。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簡單優先：先做完再做好。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區塊十：大結局：打包上繳與啟航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954487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硬性宣告：打包最終版上傳學習平台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各組在下課前，把最終鎖定版打包成單一 .zip。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內含 React Native 原始碼、api.php、.sql DDL 與文檔。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正式上傳到數位學習平台。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 18 週成果的最終封存。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上繳內容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前端原始碼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React Native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後端 api.php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PHP REST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.sql + 文檔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還原與說明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區塊十：大結局：打包上繳與啟航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170889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警示：逾期系統自動關閉，不予補交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P.47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再次警示：繳交系統將於截止時自動關閉。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逾期一律不予補交，請務必準時。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如同真實世界的專案交付，期限就是期限。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守時，也是一名工程師的職業素養。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5000"/>
            </a:avLst>
          </a:prstGeom>
          <a:solidFill>
            <a:srgbClr val="F3F3FA"/>
          </a:solidFill>
          <a:ln w="15875">
            <a:solidFill>
              <a:srgbClr val="777B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1938528"/>
            <a:ext cx="4529023" cy="4023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繳交提醒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打包成單一 .zip 檔。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確認內容完整無缺。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截止前完成上傳。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逾期不予補交。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區塊十：大結局：打包上繳與啟航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387291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成績確認：學期評定比例最終公佈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P.48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公佈本學期成績評定比例的最終確認表。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涵蓋平時實作、期中專案與期末發表。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每一項成績，都對應著實實在在的付出。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分數是結果，能力才是真正的收穫。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學期成績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8156"/>
                <a:gridCol w="2314290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評定項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比例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平時實作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30%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期中專案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30%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期末發表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40%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總計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100%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區塊十：大結局：打包上繳與啟航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603693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致謝：18 週熬夜除錯的堅持與汗水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P.49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致謝全班同學 18 週以來的堅持與汗水。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那些熬夜除錯、挑戰硬核課綱的夜晚。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都化作了今天站上舞台的底氣。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為自己的努力，好好鼓一次掌。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致每一位同學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堅持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18 週不間斷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突破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一次次跨過難關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蛻變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菜鳥到全端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W18: 期末專案成果發表與系統評審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區塊十：大結局：打包上繳與啟航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// Code complete. The system is live. Thank you!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P.900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P.50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程式碼完成，系統上線，全課圓滿落幕。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從第一行 fetch 到雲端的三端大三通……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你們打造的，是一個真正活著的系統。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願這份實作的硬實力，伴你走向更遠的戰場。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5000"/>
            </a:avLst>
          </a:prstGeom>
          <a:solidFill>
            <a:srgbClr val="ECFDFF"/>
          </a:solidFill>
          <a:ln w="15875">
            <a:solidFill>
              <a:srgbClr val="1E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1938528"/>
            <a:ext cx="4529023" cy="4023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// Code complete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The system is live.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18 週，900 頁，一個完整的系統。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從菜鳥到跨平台全端工程師。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Thank you, and keep coding!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